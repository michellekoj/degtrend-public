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4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6" r:id="rId19"/>
    <p:sldId id="273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2368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75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2894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185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2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520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795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926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484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44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970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A1AFFBA-14E0-40F3-B41B-AB34D061DEAF}" type="datetimeFigureOut">
              <a:rPr lang="en-IL" smtClean="0"/>
              <a:t>16/02/2026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638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r-project.or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MichelleKoj/DEGTrend-public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4E4B-7EE6-B355-89C0-833C133B2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R and RGUI for Running </a:t>
            </a:r>
            <a:r>
              <a:rPr lang="en-US" dirty="0" err="1"/>
              <a:t>DEGTrend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9AE94-8EE3-5B72-C75E-5CF6C4766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1" y="51555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Michelle </a:t>
            </a:r>
            <a:r>
              <a:rPr lang="en-US" dirty="0" err="1"/>
              <a:t>Kojekine</a:t>
            </a:r>
            <a:endParaRPr lang="en-US" dirty="0"/>
          </a:p>
          <a:p>
            <a:pPr algn="l"/>
            <a:r>
              <a:rPr lang="en-US" dirty="0"/>
              <a:t>Dr. Asaf Marco</a:t>
            </a:r>
          </a:p>
          <a:p>
            <a:pPr algn="l"/>
            <a:r>
              <a:rPr lang="en-US" dirty="0"/>
              <a:t>16.02.2026</a:t>
            </a:r>
            <a:endParaRPr lang="en-IL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87B1C22-C066-BB81-E51E-17A7C0A9E4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237" y="5149289"/>
            <a:ext cx="1782763" cy="1591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FFF9C-9983-253F-09AA-9B53EFC0F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287" y="-459260"/>
            <a:ext cx="3094426" cy="194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6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D72A-BBB3-BE5E-BAD3-7B7E5BCE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Goal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3E19-0DF0-F4EC-F3F8-17767CF5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68944" cy="3976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By the end of this session you will be able to:</a:t>
            </a:r>
          </a:p>
          <a:p>
            <a:r>
              <a:rPr lang="en-US" sz="2000" dirty="0"/>
              <a:t>Work confidently in RGUI</a:t>
            </a:r>
          </a:p>
          <a:p>
            <a:r>
              <a:rPr lang="en-US" sz="2000" dirty="0"/>
              <a:t>Control your working directory</a:t>
            </a:r>
          </a:p>
          <a:p>
            <a:r>
              <a:rPr lang="en-US" sz="2000" dirty="0"/>
              <a:t>Load data files correctly</a:t>
            </a:r>
          </a:p>
          <a:p>
            <a:r>
              <a:rPr lang="en-US" sz="2000" dirty="0"/>
              <a:t>Run scripts using source()</a:t>
            </a:r>
          </a:p>
          <a:p>
            <a:r>
              <a:rPr lang="en-US" sz="2000" dirty="0"/>
              <a:t>Install and load packages</a:t>
            </a:r>
          </a:p>
          <a:p>
            <a:r>
              <a:rPr lang="en-US" sz="2000" dirty="0"/>
              <a:t>Update R when needed</a:t>
            </a:r>
          </a:p>
          <a:p>
            <a:pPr marL="0" indent="0">
              <a:buNone/>
            </a:pPr>
            <a:r>
              <a:rPr lang="en-US" sz="2000" dirty="0"/>
              <a:t>Tomorrow: </a:t>
            </a:r>
            <a:r>
              <a:rPr lang="en-US" sz="2000" dirty="0" err="1"/>
              <a:t>DEGTrend</a:t>
            </a:r>
            <a:r>
              <a:rPr lang="en-US" sz="2000" dirty="0"/>
              <a:t>.</a:t>
            </a:r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63967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A3CD-D66F-9693-3DA8-54C07AF0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07F8-97FB-EFCA-A902-6D70E31A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33664" cy="3539236"/>
          </a:xfrm>
        </p:spPr>
        <p:txBody>
          <a:bodyPr>
            <a:normAutofit/>
          </a:bodyPr>
          <a:lstStyle/>
          <a:p>
            <a:r>
              <a:rPr lang="en-US" sz="3200" dirty="0"/>
              <a:t>Programming language for statistics and data analysis</a:t>
            </a:r>
          </a:p>
          <a:p>
            <a:r>
              <a:rPr lang="en-US" sz="3200" dirty="0"/>
              <a:t>Widely used in bioinformatics</a:t>
            </a:r>
          </a:p>
          <a:p>
            <a:r>
              <a:rPr lang="en-US" sz="3200" dirty="0"/>
              <a:t>Command-based (not point-and-click)</a:t>
            </a:r>
          </a:p>
          <a:p>
            <a:r>
              <a:rPr lang="en-US" sz="3200" dirty="0"/>
              <a:t>Key idea:</a:t>
            </a:r>
            <a:br>
              <a:rPr lang="en-US" sz="3200" dirty="0"/>
            </a:br>
            <a:r>
              <a:rPr lang="en-US" sz="3200" dirty="0"/>
              <a:t>R executes commands line by line.</a:t>
            </a: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73344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6EB5-EDBA-4D09-4A50-5431603E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Interface (Windows vs Mac)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FBA96-BAF4-3985-7975-BE6DDB281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548624" cy="42265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Windows:</a:t>
            </a:r>
          </a:p>
          <a:p>
            <a:r>
              <a:rPr lang="en-US" sz="2400" dirty="0"/>
              <a:t>RGUI</a:t>
            </a:r>
          </a:p>
          <a:p>
            <a:pPr marL="0" indent="0">
              <a:buNone/>
            </a:pPr>
            <a:r>
              <a:rPr lang="en-US" sz="2400" b="1" dirty="0"/>
              <a:t>Mac:</a:t>
            </a:r>
          </a:p>
          <a:p>
            <a:r>
              <a:rPr lang="en-US" sz="2400" dirty="0" err="1"/>
              <a:t>R.app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Both include:</a:t>
            </a:r>
          </a:p>
          <a:p>
            <a:r>
              <a:rPr lang="en-US" sz="2400" dirty="0"/>
              <a:t>Console</a:t>
            </a:r>
          </a:p>
          <a:p>
            <a:r>
              <a:rPr lang="en-US" sz="2400" dirty="0"/>
              <a:t>Script editor</a:t>
            </a:r>
          </a:p>
          <a:p>
            <a:r>
              <a:rPr lang="en-US" sz="2400" dirty="0"/>
              <a:t>Graphics window</a:t>
            </a:r>
          </a:p>
          <a:p>
            <a:pPr marL="0" indent="0">
              <a:buNone/>
            </a:pPr>
            <a:r>
              <a:rPr lang="en-US" sz="2400" dirty="0"/>
              <a:t>Core logic is identical.</a:t>
            </a:r>
          </a:p>
          <a:p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29527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4324-84E7-C7C1-9090-944D46FD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 Console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C2E9-C796-C568-F14E-828410CE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&gt; means R is ready</a:t>
            </a:r>
          </a:p>
          <a:p>
            <a:r>
              <a:rPr lang="en-US" sz="3200" dirty="0"/>
              <a:t>Press Enter to execute</a:t>
            </a:r>
          </a:p>
          <a:p>
            <a:r>
              <a:rPr lang="en-US" sz="3200" dirty="0"/>
              <a:t>Errors appear immediately</a:t>
            </a: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1022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D7D3-61D7-EED9-0C47-851EFB68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Directory (Critical Concept)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9D7D-E81A-4DB7-C96E-5A4B8D98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/>
              <a:t>The working directory is:</a:t>
            </a:r>
          </a:p>
          <a:p>
            <a:r>
              <a:rPr lang="en-US" sz="3600" dirty="0"/>
              <a:t>The folder where R looks for files</a:t>
            </a:r>
          </a:p>
          <a:p>
            <a:r>
              <a:rPr lang="en-US" sz="3600" dirty="0"/>
              <a:t>The folder where R saves output</a:t>
            </a:r>
          </a:p>
          <a:p>
            <a:pPr marL="0" indent="0">
              <a:buNone/>
            </a:pPr>
            <a:r>
              <a:rPr lang="en-US" sz="3600" dirty="0"/>
              <a:t>If wrong → files cannot be found.</a:t>
            </a:r>
          </a:p>
          <a:p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33816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5BA7-23E1-55D7-60B1-1D576A55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Directory Commands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9551D-012A-9676-A0E6-44C9DE1A4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74304" cy="406755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Check current folder: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getwd</a:t>
            </a:r>
            <a:r>
              <a:rPr lang="en-US" sz="2400" dirty="0"/>
              <a:t>()</a:t>
            </a:r>
          </a:p>
          <a:p>
            <a:r>
              <a:rPr lang="en-US" sz="2400" b="1" dirty="0"/>
              <a:t>Set (Windows example):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 err="1"/>
              <a:t>setwd</a:t>
            </a:r>
            <a:r>
              <a:rPr lang="en-US" sz="2400" dirty="0"/>
              <a:t>("C:/Users/YourName/Desktop/R_workshop")</a:t>
            </a:r>
          </a:p>
          <a:p>
            <a:r>
              <a:rPr lang="en-US" sz="2400" b="1" dirty="0"/>
              <a:t>Set (Mac example):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 err="1"/>
              <a:t>setwd</a:t>
            </a:r>
            <a:r>
              <a:rPr lang="en-US" sz="2400" dirty="0"/>
              <a:t>("~/Desktop/</a:t>
            </a:r>
            <a:r>
              <a:rPr lang="en-US" sz="2400" dirty="0" err="1"/>
              <a:t>R_workshop</a:t>
            </a:r>
            <a:r>
              <a:rPr lang="en-US" sz="2400" dirty="0"/>
              <a:t>")</a:t>
            </a:r>
            <a:endParaRPr lang="he-IL" sz="2400" dirty="0"/>
          </a:p>
          <a:p>
            <a:r>
              <a:rPr lang="en-US" sz="2400" b="1" dirty="0"/>
              <a:t>List files: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list.files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u="sng" dirty="0"/>
              <a:t>Golden rule:</a:t>
            </a:r>
            <a:br>
              <a:rPr lang="en-US" sz="2400" dirty="0"/>
            </a:br>
            <a:r>
              <a:rPr lang="en-US" sz="2400" dirty="0"/>
              <a:t>Always check </a:t>
            </a:r>
            <a:r>
              <a:rPr lang="en-US" sz="2400" dirty="0" err="1"/>
              <a:t>getwd</a:t>
            </a:r>
            <a:r>
              <a:rPr lang="en-US" sz="2400" dirty="0"/>
              <a:t>() before running scripts.</a:t>
            </a:r>
          </a:p>
        </p:txBody>
      </p:sp>
    </p:spTree>
    <p:extLst>
      <p:ext uri="{BB962C8B-B14F-4D97-AF65-F5344CB8AC3E}">
        <p14:creationId xmlns:p14="http://schemas.microsoft.com/office/powerpoint/2010/main" val="411178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BECC-C832-54A9-5B46-5768A2DE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Paths (Windows vs Mac)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2679-0A93-69A4-CC12-FD8CF6709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53984" cy="42199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Windows:</a:t>
            </a:r>
          </a:p>
          <a:p>
            <a:pPr marL="0" indent="0">
              <a:buNone/>
            </a:pPr>
            <a:r>
              <a:rPr lang="he-IL" sz="2000" dirty="0"/>
              <a:t>	</a:t>
            </a:r>
            <a:r>
              <a:rPr lang="en-US" sz="2000" dirty="0"/>
              <a:t>C:/Users/Name/Desktop/file.csv</a:t>
            </a:r>
          </a:p>
          <a:p>
            <a:pPr marL="0" indent="0">
              <a:buNone/>
            </a:pPr>
            <a:r>
              <a:rPr lang="en-US" sz="2000" b="1" dirty="0"/>
              <a:t>Mac:</a:t>
            </a:r>
          </a:p>
          <a:p>
            <a:pPr marL="0" indent="0">
              <a:buNone/>
            </a:pPr>
            <a:r>
              <a:rPr lang="he-IL" sz="2000" dirty="0"/>
              <a:t>	</a:t>
            </a:r>
            <a:r>
              <a:rPr lang="en-US" sz="2000" dirty="0"/>
              <a:t>/Users/name/Desktop/file.csv</a:t>
            </a:r>
          </a:p>
          <a:p>
            <a:pPr marL="0" indent="0">
              <a:buNone/>
            </a:pPr>
            <a:r>
              <a:rPr lang="he-IL" sz="2000" dirty="0"/>
              <a:t>	</a:t>
            </a:r>
            <a:r>
              <a:rPr lang="en-US" sz="2000" dirty="0"/>
              <a:t>Or:</a:t>
            </a:r>
          </a:p>
          <a:p>
            <a:pPr marL="0" indent="0">
              <a:buNone/>
            </a:pPr>
            <a:r>
              <a:rPr lang="he-IL" sz="2000" dirty="0"/>
              <a:t>	</a:t>
            </a:r>
            <a:r>
              <a:rPr lang="en-US" sz="2000" dirty="0"/>
              <a:t>~/Desktop/file.csv</a:t>
            </a:r>
          </a:p>
          <a:p>
            <a:pPr marL="0" indent="0">
              <a:buNone/>
            </a:pPr>
            <a:r>
              <a:rPr lang="en-US" sz="2000" u="sng" dirty="0"/>
              <a:t>Important:</a:t>
            </a:r>
          </a:p>
          <a:p>
            <a:r>
              <a:rPr lang="en-US" sz="2000" dirty="0"/>
              <a:t>Use / not \</a:t>
            </a:r>
          </a:p>
          <a:p>
            <a:r>
              <a:rPr lang="en-US" sz="2000" dirty="0"/>
              <a:t>Mac is case-sensitive</a:t>
            </a:r>
          </a:p>
          <a:p>
            <a:r>
              <a:rPr lang="en-US" sz="2000" dirty="0"/>
              <a:t>Avoid Hebrew characters in path</a:t>
            </a:r>
          </a:p>
          <a:p>
            <a:r>
              <a:rPr lang="en-US" sz="2000" dirty="0"/>
              <a:t>Avoid spaces and special characters</a:t>
            </a:r>
          </a:p>
        </p:txBody>
      </p:sp>
    </p:spTree>
    <p:extLst>
      <p:ext uri="{BB962C8B-B14F-4D97-AF65-F5344CB8AC3E}">
        <p14:creationId xmlns:p14="http://schemas.microsoft.com/office/powerpoint/2010/main" val="300229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39EF-1F51-B986-2EAD-5D0038E2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Path Errors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0658-0DF1-DDA7-31D8-D83E0C945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58784" cy="42199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Windows error:</a:t>
            </a:r>
          </a:p>
          <a:p>
            <a:pPr marL="0" indent="0">
              <a:buNone/>
            </a:pPr>
            <a:r>
              <a:rPr lang="he-IL" sz="2800" dirty="0"/>
              <a:t>	</a:t>
            </a:r>
            <a:r>
              <a:rPr lang="en-US" sz="2800" dirty="0"/>
              <a:t>'\U' used without hex digits</a:t>
            </a:r>
          </a:p>
          <a:p>
            <a:pPr marL="0" indent="0">
              <a:buNone/>
            </a:pPr>
            <a:r>
              <a:rPr lang="en-US" sz="2800" dirty="0"/>
              <a:t>→ You used </a:t>
            </a:r>
            <a:r>
              <a:rPr lang="en-US" sz="2800" b="1" dirty="0"/>
              <a:t>\</a:t>
            </a:r>
            <a:r>
              <a:rPr lang="en-US" sz="2800" dirty="0"/>
              <a:t> instead of </a:t>
            </a:r>
            <a:r>
              <a:rPr lang="en-US" sz="2800" b="1" dirty="0"/>
              <a:t>/</a:t>
            </a:r>
          </a:p>
          <a:p>
            <a:pPr marL="0" indent="0">
              <a:buNone/>
            </a:pPr>
            <a:r>
              <a:rPr lang="en-US" sz="2800" b="1" dirty="0"/>
              <a:t>Mac error:</a:t>
            </a:r>
          </a:p>
          <a:p>
            <a:pPr marL="0" indent="0">
              <a:buNone/>
            </a:pPr>
            <a:r>
              <a:rPr lang="he-IL" sz="2800" dirty="0"/>
              <a:t>	</a:t>
            </a:r>
            <a:r>
              <a:rPr lang="en-US" sz="2800" dirty="0"/>
              <a:t>cannot open file</a:t>
            </a:r>
          </a:p>
          <a:p>
            <a:pPr marL="0" indent="0">
              <a:buNone/>
            </a:pPr>
            <a:r>
              <a:rPr lang="en-US" sz="2800" dirty="0"/>
              <a:t>→ Check capitalization</a:t>
            </a:r>
          </a:p>
          <a:p>
            <a:pPr marL="0" indent="0">
              <a:buNone/>
            </a:pPr>
            <a:r>
              <a:rPr lang="en-US" sz="2800" dirty="0"/>
              <a:t>Mac example:</a:t>
            </a:r>
          </a:p>
          <a:p>
            <a:pPr marL="0" indent="0">
              <a:buNone/>
            </a:pPr>
            <a:r>
              <a:rPr lang="en-US" sz="2800" dirty="0"/>
              <a:t>File.csv ≠ file.csv</a:t>
            </a:r>
          </a:p>
          <a:p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717718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6FEF-471F-BD93-2849-B328D0BA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Scripts?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77FD-F2A4-4E50-735C-3964190C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03184" cy="42199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Typing commands manually is risky.</a:t>
            </a:r>
          </a:p>
          <a:p>
            <a:pPr marL="0" indent="0">
              <a:buNone/>
            </a:pPr>
            <a:r>
              <a:rPr lang="en-US" sz="3600" dirty="0"/>
              <a:t>Scripts allow:</a:t>
            </a:r>
          </a:p>
          <a:p>
            <a:r>
              <a:rPr lang="en-US" sz="3600" dirty="0"/>
              <a:t>Reproducibility</a:t>
            </a:r>
          </a:p>
          <a:p>
            <a:r>
              <a:rPr lang="en-US" sz="3600" dirty="0"/>
              <a:t>Organization</a:t>
            </a:r>
          </a:p>
          <a:p>
            <a:r>
              <a:rPr lang="en-US" sz="3600" dirty="0"/>
              <a:t>Running full analyses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 err="1"/>
              <a:t>DEGTrend</a:t>
            </a:r>
            <a:r>
              <a:rPr lang="en-US" sz="3600" dirty="0"/>
              <a:t> runs via script.</a:t>
            </a:r>
          </a:p>
          <a:p>
            <a:pPr marL="0" indent="0">
              <a:buNone/>
            </a:pPr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110472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8F42-B86C-7446-72ED-9C94071A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Script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C1AE-36E1-96BD-5E09-2DFF06CCC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81264" cy="4219956"/>
          </a:xfrm>
        </p:spPr>
        <p:txBody>
          <a:bodyPr>
            <a:normAutofit/>
          </a:bodyPr>
          <a:lstStyle/>
          <a:p>
            <a:r>
              <a:rPr lang="en-US" sz="3200" dirty="0"/>
              <a:t>Save file as .R</a:t>
            </a:r>
          </a:p>
          <a:p>
            <a:r>
              <a:rPr lang="en-US" sz="3200" dirty="0"/>
              <a:t>Confirm working directory</a:t>
            </a:r>
          </a:p>
          <a:p>
            <a:r>
              <a:rPr lang="en-US" sz="3200" dirty="0"/>
              <a:t>Run:</a:t>
            </a:r>
          </a:p>
          <a:p>
            <a:pPr marL="0" indent="0">
              <a:buNone/>
            </a:pPr>
            <a:r>
              <a:rPr lang="en-US" sz="3200" dirty="0"/>
              <a:t>	source("</a:t>
            </a:r>
            <a:r>
              <a:rPr lang="en-US" sz="3200" dirty="0" err="1"/>
              <a:t>script_name.R</a:t>
            </a:r>
            <a:r>
              <a:rPr lang="en-US" sz="3200" dirty="0"/>
              <a:t>")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If there is an error → execution stops.</a:t>
            </a: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38458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91A9-D14B-8560-727B-4D7C523E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(Windows vs Mac)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3CEDE-53DB-142C-1844-B90C240B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111744" cy="42199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Windows: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 err="1"/>
              <a:t>grDevices</a:t>
            </a:r>
            <a:r>
              <a:rPr lang="en-US" sz="2400" dirty="0"/>
              <a:t>::windows()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/>
              <a:t>plot(1:10)</a:t>
            </a:r>
          </a:p>
          <a:p>
            <a:pPr marL="0" indent="0">
              <a:buNone/>
            </a:pPr>
            <a:r>
              <a:rPr lang="en-US" sz="2400" b="1" dirty="0"/>
              <a:t>Mac: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/>
              <a:t>quartz()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/>
              <a:t>plot(1:10)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In most cases:</a:t>
            </a:r>
          </a:p>
          <a:p>
            <a:pPr marL="0" indent="0">
              <a:buNone/>
            </a:pPr>
            <a:r>
              <a:rPr lang="he-IL" sz="2400" dirty="0"/>
              <a:t>	</a:t>
            </a:r>
            <a:r>
              <a:rPr lang="en-US" sz="2400" dirty="0"/>
              <a:t>plot(1:10)</a:t>
            </a:r>
          </a:p>
          <a:p>
            <a:pPr marL="0" indent="0">
              <a:buNone/>
            </a:pPr>
            <a:r>
              <a:rPr lang="en-US" sz="2400" dirty="0"/>
              <a:t>works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14247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5C02-1E40-A747-EB71-39B9F2D9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Package?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5B1F-22C4-2674-6126-DCA1144C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355584" cy="42199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A package is:</a:t>
            </a:r>
          </a:p>
          <a:p>
            <a:r>
              <a:rPr lang="en-US" sz="2800" dirty="0"/>
              <a:t>A collection of functions</a:t>
            </a:r>
          </a:p>
          <a:p>
            <a:r>
              <a:rPr lang="en-US" sz="2800" dirty="0"/>
              <a:t>Extends base R functionality</a:t>
            </a:r>
          </a:p>
          <a:p>
            <a:pPr marL="0" indent="0">
              <a:buNone/>
            </a:pPr>
            <a:r>
              <a:rPr lang="en-US" sz="2800" u="sng" dirty="0"/>
              <a:t>Examples:</a:t>
            </a:r>
          </a:p>
          <a:p>
            <a:r>
              <a:rPr lang="en-US" sz="2800" dirty="0"/>
              <a:t>DESeq2</a:t>
            </a:r>
          </a:p>
          <a:p>
            <a:r>
              <a:rPr lang="en-US" sz="2800" dirty="0" err="1"/>
              <a:t>RUVSeq</a:t>
            </a:r>
            <a:endParaRPr lang="en-US" sz="2800" dirty="0"/>
          </a:p>
          <a:p>
            <a:r>
              <a:rPr lang="en-US" sz="2800" dirty="0"/>
              <a:t>Ggplot2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DEGTrend</a:t>
            </a:r>
            <a:r>
              <a:rPr lang="en-US" sz="2800" dirty="0"/>
              <a:t> depends on packages.</a:t>
            </a:r>
          </a:p>
          <a:p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3154027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026C-4E67-4DD3-70FE-0156432A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Packages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98FB-BB28-DBC8-CC35-538483189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91424" cy="42199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Installing ≠ Loading</a:t>
            </a:r>
          </a:p>
          <a:p>
            <a:pPr marL="0" indent="0">
              <a:buNone/>
            </a:pPr>
            <a:r>
              <a:rPr lang="en-US" sz="3200" dirty="0"/>
              <a:t>Load every session:</a:t>
            </a:r>
          </a:p>
          <a:p>
            <a:pPr marL="0" indent="0">
              <a:buNone/>
            </a:pPr>
            <a:r>
              <a:rPr lang="en-US" sz="3200" dirty="0"/>
              <a:t>	library(ggplot2)</a:t>
            </a:r>
          </a:p>
          <a:p>
            <a:pPr marL="0" indent="0">
              <a:buNone/>
            </a:pPr>
            <a:r>
              <a:rPr lang="en-US" sz="3200" dirty="0"/>
              <a:t>	library(DESeq2)</a:t>
            </a:r>
          </a:p>
          <a:p>
            <a:pPr marL="0" indent="0">
              <a:buNone/>
            </a:pPr>
            <a:r>
              <a:rPr lang="en-US" sz="3200" dirty="0"/>
              <a:t>If you see:</a:t>
            </a:r>
          </a:p>
          <a:p>
            <a:pPr marL="0" indent="0">
              <a:buNone/>
            </a:pPr>
            <a:r>
              <a:rPr lang="en-US" sz="3200" dirty="0"/>
              <a:t>	there is no package called ...</a:t>
            </a:r>
          </a:p>
          <a:p>
            <a:pPr marL="0" indent="0">
              <a:buNone/>
            </a:pPr>
            <a:r>
              <a:rPr lang="en-US" sz="3200" dirty="0"/>
              <a:t>It is not installed.</a:t>
            </a:r>
          </a:p>
        </p:txBody>
      </p:sp>
    </p:spTree>
    <p:extLst>
      <p:ext uri="{BB962C8B-B14F-4D97-AF65-F5344CB8AC3E}">
        <p14:creationId xmlns:p14="http://schemas.microsoft.com/office/powerpoint/2010/main" val="145298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D048-3E16-3ED6-8393-4F919211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R Version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F9D8-9B11-D4FE-B6EF-8C713F31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806944" cy="30515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Check version:</a:t>
            </a:r>
          </a:p>
          <a:p>
            <a:pPr marL="457200" lvl="1" indent="0">
              <a:buNone/>
            </a:pPr>
            <a:r>
              <a:rPr lang="en-US" sz="2800" dirty="0" err="1"/>
              <a:t>R.version.string</a:t>
            </a:r>
            <a:endParaRPr lang="en-US" sz="2800" dirty="0"/>
          </a:p>
          <a:p>
            <a:pPr marL="0" indent="0">
              <a:buNone/>
            </a:pPr>
            <a:r>
              <a:rPr lang="en-US" sz="3200" dirty="0"/>
              <a:t>Or:</a:t>
            </a:r>
          </a:p>
          <a:p>
            <a:pPr marL="457200" lvl="1" indent="0">
              <a:buNone/>
            </a:pPr>
            <a:r>
              <a:rPr lang="en-US" sz="2800" dirty="0" err="1"/>
              <a:t>sessionInfo</a:t>
            </a:r>
            <a:r>
              <a:rPr lang="en-US" sz="2800" dirty="0"/>
              <a:t>()</a:t>
            </a:r>
          </a:p>
          <a:p>
            <a:pPr marL="0" indent="0">
              <a:buNone/>
            </a:pPr>
            <a:r>
              <a:rPr lang="en-US" sz="3200" b="1" dirty="0"/>
              <a:t>Old R versions may cause package failures.</a:t>
            </a:r>
          </a:p>
          <a:p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193332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D7FF-F673-823E-8902-89DE09EC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A2D5-FD2A-7819-AB31-9F362B9D3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609584" cy="4077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 does NOT update automatically.</a:t>
            </a:r>
          </a:p>
          <a:p>
            <a:pPr marL="0" indent="0">
              <a:buNone/>
            </a:pPr>
            <a:r>
              <a:rPr lang="en-US" sz="2000" b="1" dirty="0"/>
              <a:t>Windows:</a:t>
            </a:r>
          </a:p>
          <a:p>
            <a:r>
              <a:rPr lang="en-US" sz="2000" dirty="0"/>
              <a:t>Download from cran.r-project.org</a:t>
            </a:r>
          </a:p>
          <a:p>
            <a:r>
              <a:rPr lang="en-US" sz="2000" dirty="0"/>
              <a:t>Install latest version</a:t>
            </a:r>
          </a:p>
          <a:p>
            <a:pPr marL="0" indent="0">
              <a:buNone/>
            </a:pPr>
            <a:r>
              <a:rPr lang="en-US" sz="2000" b="1" dirty="0"/>
              <a:t>Mac:</a:t>
            </a:r>
          </a:p>
          <a:p>
            <a:r>
              <a:rPr lang="en-US" sz="2000" dirty="0"/>
              <a:t>Download R for macOS</a:t>
            </a:r>
          </a:p>
          <a:p>
            <a:r>
              <a:rPr lang="en-US" sz="2000" dirty="0"/>
              <a:t>Install normally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Restart computer after installation.</a:t>
            </a:r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051918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F7BF-E522-FD26-6768-8F7F9F7E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Packages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D386F-F308-F930-5520-EDC4A9FE9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94624" cy="4006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Check outdated packages:</a:t>
            </a:r>
          </a:p>
          <a:p>
            <a:pPr marL="457200" lvl="1" indent="0">
              <a:buNone/>
            </a:pPr>
            <a:r>
              <a:rPr lang="en-US" sz="2400" dirty="0" err="1"/>
              <a:t>old.packages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800" dirty="0"/>
              <a:t>Update all:</a:t>
            </a:r>
          </a:p>
          <a:p>
            <a:pPr marL="457200" lvl="1" indent="0">
              <a:buNone/>
            </a:pPr>
            <a:r>
              <a:rPr lang="en-US" sz="2400" dirty="0" err="1"/>
              <a:t>update.packages</a:t>
            </a:r>
            <a:r>
              <a:rPr lang="en-US" sz="2400" dirty="0"/>
              <a:t>(ask = FALSE)</a:t>
            </a:r>
          </a:p>
          <a:p>
            <a:pPr marL="0" indent="0">
              <a:buNone/>
            </a:pPr>
            <a:r>
              <a:rPr lang="en-US" sz="2800" dirty="0"/>
              <a:t>Update Bioconductor:</a:t>
            </a:r>
          </a:p>
          <a:p>
            <a:pPr marL="457200" lvl="1" indent="0">
              <a:buNone/>
            </a:pPr>
            <a:r>
              <a:rPr lang="en-US" sz="2400" dirty="0" err="1"/>
              <a:t>BiocManager</a:t>
            </a:r>
            <a:r>
              <a:rPr lang="en-US" sz="2400" dirty="0"/>
              <a:t>::install(update = TRUE, ask = FALSE)</a:t>
            </a:r>
          </a:p>
          <a:p>
            <a:pPr marL="0" indent="0">
              <a:buNone/>
            </a:pPr>
            <a:r>
              <a:rPr lang="en-US" sz="2800" b="1" dirty="0"/>
              <a:t>Restart R after updating.</a:t>
            </a:r>
          </a:p>
          <a:p>
            <a:pPr marL="0" indent="0">
              <a:buNone/>
            </a:pP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920292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99EC-7FCE-E356-2010-E691CC41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Mac-Specific Note (Important)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0FB2-D6F1-FBB4-AAA3-7B4C89D96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60944" cy="3854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If Bioconductor package installation fails with:</a:t>
            </a:r>
          </a:p>
          <a:p>
            <a:pPr marL="0" indent="0">
              <a:buNone/>
            </a:pPr>
            <a:r>
              <a:rPr lang="he-IL" sz="2800" dirty="0"/>
              <a:t>	</a:t>
            </a:r>
            <a:r>
              <a:rPr lang="en-US" sz="2800" dirty="0"/>
              <a:t>clang error</a:t>
            </a:r>
          </a:p>
          <a:p>
            <a:pPr marL="0" indent="0">
              <a:buNone/>
            </a:pPr>
            <a:r>
              <a:rPr lang="en-US" sz="2800" dirty="0"/>
              <a:t>Open Terminal and run:</a:t>
            </a:r>
          </a:p>
          <a:p>
            <a:pPr marL="0" indent="0">
              <a:buNone/>
            </a:pPr>
            <a:r>
              <a:rPr lang="he-IL" sz="2800" dirty="0"/>
              <a:t>	</a:t>
            </a:r>
            <a:r>
              <a:rPr lang="en-US" sz="2800" dirty="0" err="1"/>
              <a:t>xcode</a:t>
            </a:r>
            <a:r>
              <a:rPr lang="en-US" sz="2800" dirty="0"/>
              <a:t>-select --install</a:t>
            </a:r>
          </a:p>
          <a:p>
            <a:pPr marL="0" indent="0">
              <a:buNone/>
            </a:pPr>
            <a:r>
              <a:rPr lang="en-US" sz="2800" dirty="0"/>
              <a:t>This installs required developer tools.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Most Macs already have it.</a:t>
            </a:r>
          </a:p>
          <a:p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791524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6FC1-747D-A120-1A99-D9A8DDB1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Errors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FBE7-0A7D-BB41-D7D7-A3E34303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142224" cy="41081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Typical issues:</a:t>
            </a:r>
          </a:p>
          <a:p>
            <a:r>
              <a:rPr lang="en-US" sz="3200" dirty="0"/>
              <a:t>Wrong working directory</a:t>
            </a:r>
          </a:p>
          <a:p>
            <a:r>
              <a:rPr lang="en-US" sz="3200" dirty="0"/>
              <a:t>Wrong file path</a:t>
            </a:r>
          </a:p>
          <a:p>
            <a:r>
              <a:rPr lang="en-US" sz="3200" dirty="0"/>
              <a:t>Package not installed</a:t>
            </a:r>
          </a:p>
          <a:p>
            <a:r>
              <a:rPr lang="en-US" sz="3200" dirty="0"/>
              <a:t>Case sensitivity (Mac)</a:t>
            </a:r>
          </a:p>
          <a:p>
            <a:pPr marL="0" indent="0">
              <a:buNone/>
            </a:pPr>
            <a:r>
              <a:rPr lang="en-US" sz="3200" dirty="0"/>
              <a:t>Most problems are environment-related.</a:t>
            </a:r>
          </a:p>
          <a:p>
            <a:pPr marL="0" indent="0">
              <a:buNone/>
            </a:pPr>
            <a:r>
              <a:rPr lang="en-US" sz="3200" dirty="0"/>
              <a:t>Not programming-related.</a:t>
            </a:r>
          </a:p>
          <a:p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714873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AA9C-3F6A-E034-BB50-D769D1DC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Tomorrow: </a:t>
            </a:r>
            <a:r>
              <a:rPr lang="en-US" b="1" dirty="0"/>
              <a:t>What You Need Before Starting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D775-6CDB-76A7-2C6E-E285739E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99424" cy="4108196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R installed on your computer (version 4.4 or higher).</a:t>
            </a:r>
          </a:p>
          <a:p>
            <a:pPr lvl="1"/>
            <a:r>
              <a:rPr lang="en-US" sz="2400" dirty="0"/>
              <a:t>If you don’t have R: download it from https://cran.r-project.org/ (or </a:t>
            </a:r>
            <a:r>
              <a:rPr lang="en-US" sz="2400" dirty="0">
                <a:hlinkClick r:id="rId2"/>
              </a:rPr>
              <a:t>https://cloud.r-project.org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Required R Packages Installation (as detailed in the git)</a:t>
            </a:r>
          </a:p>
          <a:p>
            <a:r>
              <a:rPr lang="en-US" sz="2800" dirty="0"/>
              <a:t>Your data files ready (DEG tables, count matrix, sample info, etc.).</a:t>
            </a:r>
          </a:p>
          <a:p>
            <a:pPr lvl="1"/>
            <a:r>
              <a:rPr lang="en-US" sz="2400" dirty="0"/>
              <a:t>Example data for </a:t>
            </a:r>
            <a:r>
              <a:rPr lang="en-US" sz="2400" dirty="0" err="1"/>
              <a:t>DEGTrend</a:t>
            </a:r>
            <a:r>
              <a:rPr lang="en-US" sz="2400" dirty="0"/>
              <a:t> is available in the following Google Drive folder:</a:t>
            </a:r>
          </a:p>
          <a:p>
            <a:pPr marL="457200" lvl="1" indent="0">
              <a:buNone/>
            </a:pPr>
            <a:r>
              <a:rPr lang="en-US" sz="2400" dirty="0"/>
              <a:t>https://drive.google.com/drive/folders/1HgtBbxDIWFP47Bp6M3hT0WvLkLlPJlVE?usp=sharing</a:t>
            </a:r>
          </a:p>
          <a:p>
            <a:r>
              <a:rPr lang="en-US" sz="2800" dirty="0"/>
              <a:t>A folder where you want all results to be saved (the program will ask you for this).</a:t>
            </a:r>
          </a:p>
          <a:p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549445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58DD-B671-5BBB-28F9-3E7D5433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Required R Packages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887B-4509-0F45-9AFF-3888331EA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436864" cy="4098036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install.packages</a:t>
            </a:r>
            <a:r>
              <a:rPr lang="en-US" sz="2800" dirty="0"/>
              <a:t>("</a:t>
            </a:r>
            <a:r>
              <a:rPr lang="en-US" sz="2800" dirty="0" err="1"/>
              <a:t>BiocManager</a:t>
            </a:r>
            <a:r>
              <a:rPr lang="en-US" sz="2800" dirty="0"/>
              <a:t>")</a:t>
            </a:r>
          </a:p>
          <a:p>
            <a:r>
              <a:rPr lang="en-US" sz="2800" dirty="0" err="1"/>
              <a:t>install.packages</a:t>
            </a:r>
            <a:r>
              <a:rPr lang="en-US" sz="2800" dirty="0"/>
              <a:t>(c("shiny", "</a:t>
            </a:r>
            <a:r>
              <a:rPr lang="en-US" sz="2800" dirty="0" err="1"/>
              <a:t>ggVennDiagram</a:t>
            </a:r>
            <a:r>
              <a:rPr lang="en-US" sz="2800" dirty="0"/>
              <a:t>", "</a:t>
            </a:r>
            <a:r>
              <a:rPr lang="en-US" sz="2800" dirty="0" err="1"/>
              <a:t>plotly</a:t>
            </a:r>
            <a:r>
              <a:rPr lang="en-US" sz="2800" dirty="0"/>
              <a:t>", "DT", "</a:t>
            </a:r>
            <a:r>
              <a:rPr lang="en-US" sz="2800" dirty="0" err="1"/>
              <a:t>miniUI</a:t>
            </a:r>
            <a:r>
              <a:rPr lang="en-US" sz="2800" dirty="0"/>
              <a:t>", "sf", "</a:t>
            </a:r>
            <a:r>
              <a:rPr lang="en-US" sz="2800" dirty="0" err="1"/>
              <a:t>ggupset</a:t>
            </a:r>
            <a:r>
              <a:rPr lang="en-US" sz="2800" dirty="0"/>
              <a:t>", "</a:t>
            </a:r>
            <a:r>
              <a:rPr lang="en-US" sz="2800" dirty="0" err="1"/>
              <a:t>readxl</a:t>
            </a:r>
            <a:r>
              <a:rPr lang="en-US" sz="2800" dirty="0"/>
              <a:t>", "ggplot2", "</a:t>
            </a:r>
            <a:r>
              <a:rPr lang="en-US" sz="2800" dirty="0" err="1"/>
              <a:t>RColorBrewer</a:t>
            </a:r>
            <a:r>
              <a:rPr lang="en-US" sz="2800" dirty="0"/>
              <a:t>", "</a:t>
            </a:r>
            <a:r>
              <a:rPr lang="en-US" sz="2800" dirty="0" err="1"/>
              <a:t>circlize</a:t>
            </a:r>
            <a:r>
              <a:rPr lang="en-US" sz="2800" dirty="0"/>
              <a:t>", "</a:t>
            </a:r>
            <a:r>
              <a:rPr lang="en-US" sz="2800" dirty="0" err="1"/>
              <a:t>viridis</a:t>
            </a:r>
            <a:r>
              <a:rPr lang="en-US" sz="2800" dirty="0"/>
              <a:t>", "reshape2", "</a:t>
            </a:r>
            <a:r>
              <a:rPr lang="en-US" sz="2800" dirty="0" err="1"/>
              <a:t>openxlsx</a:t>
            </a:r>
            <a:r>
              <a:rPr lang="en-US" sz="2800" dirty="0"/>
              <a:t>", "</a:t>
            </a:r>
            <a:r>
              <a:rPr lang="en-US" sz="2800" dirty="0" err="1"/>
              <a:t>VennDiagram</a:t>
            </a:r>
            <a:r>
              <a:rPr lang="en-US" sz="2800" dirty="0"/>
              <a:t>", "</a:t>
            </a:r>
            <a:r>
              <a:rPr lang="en-US" sz="2800" dirty="0" err="1"/>
              <a:t>dplyr</a:t>
            </a:r>
            <a:r>
              <a:rPr lang="en-US" sz="2800" dirty="0"/>
              <a:t>", "</a:t>
            </a:r>
            <a:r>
              <a:rPr lang="en-US" sz="2800" dirty="0" err="1"/>
              <a:t>tidyr</a:t>
            </a:r>
            <a:r>
              <a:rPr lang="en-US" sz="2800" dirty="0"/>
              <a:t>", "</a:t>
            </a:r>
            <a:r>
              <a:rPr lang="en-US" sz="2800" dirty="0" err="1"/>
              <a:t>stringr</a:t>
            </a:r>
            <a:r>
              <a:rPr lang="en-US" sz="2800" dirty="0"/>
              <a:t>", "</a:t>
            </a:r>
            <a:r>
              <a:rPr lang="en-US" sz="2800" dirty="0" err="1"/>
              <a:t>matrixStats</a:t>
            </a:r>
            <a:r>
              <a:rPr lang="en-US" sz="2800" dirty="0"/>
              <a:t>"), dependencies = TRUE)</a:t>
            </a:r>
          </a:p>
          <a:p>
            <a:r>
              <a:rPr lang="en-US" sz="2800" dirty="0" err="1"/>
              <a:t>BiocManager</a:t>
            </a:r>
            <a:r>
              <a:rPr lang="en-US" sz="2800" dirty="0"/>
              <a:t>::install(c("DESeq2", "</a:t>
            </a:r>
            <a:r>
              <a:rPr lang="en-US" sz="2800" dirty="0" err="1"/>
              <a:t>RUVSeq</a:t>
            </a:r>
            <a:r>
              <a:rPr lang="en-US" sz="2800" dirty="0"/>
              <a:t>", "</a:t>
            </a:r>
            <a:r>
              <a:rPr lang="en-US" sz="2800" dirty="0" err="1"/>
              <a:t>edgeR</a:t>
            </a:r>
            <a:r>
              <a:rPr lang="en-US" sz="2800" dirty="0"/>
              <a:t>", "</a:t>
            </a:r>
            <a:r>
              <a:rPr lang="en-US" sz="2800" dirty="0" err="1"/>
              <a:t>rtracklayer</a:t>
            </a:r>
            <a:r>
              <a:rPr lang="en-US" sz="2800" dirty="0"/>
              <a:t>", "</a:t>
            </a:r>
            <a:r>
              <a:rPr lang="en-US" sz="2800" dirty="0" err="1"/>
              <a:t>ComplexHeatmap</a:t>
            </a:r>
            <a:r>
              <a:rPr lang="en-US" sz="2800" dirty="0"/>
              <a:t>", "</a:t>
            </a:r>
            <a:r>
              <a:rPr lang="en-US" sz="2800" dirty="0" err="1"/>
              <a:t>Biobase</a:t>
            </a:r>
            <a:r>
              <a:rPr lang="en-US" sz="2800" dirty="0"/>
              <a:t>", "</a:t>
            </a:r>
            <a:r>
              <a:rPr lang="en-US" sz="2800" dirty="0" err="1"/>
              <a:t>SummarizedExperiment</a:t>
            </a:r>
            <a:r>
              <a:rPr lang="en-US" sz="2800" dirty="0"/>
              <a:t>"), dependencies = TRUE, update = TRUE, ask = FALSE)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042504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BF5E-DD06-0615-BA39-B34B2423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</a:t>
            </a:r>
            <a:r>
              <a:rPr lang="en-US" dirty="0" err="1"/>
              <a:t>DEGTrend.R</a:t>
            </a:r>
            <a:r>
              <a:rPr lang="en-US" dirty="0"/>
              <a:t> from GitHub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5ACB-5B89-CCDC-5522-3B34D98C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241804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will download </a:t>
            </a:r>
            <a:r>
              <a:rPr lang="en-US" b="1" dirty="0"/>
              <a:t>only the main script file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https://github.com/MichelleKoj/DEGTrend-public</a:t>
            </a:r>
            <a:endParaRPr lang="en-US" dirty="0"/>
          </a:p>
          <a:p>
            <a:endParaRPr lang="en-IL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D57EC9-F753-9F63-4E81-7B7C141F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3" y="2990796"/>
            <a:ext cx="11069053" cy="386720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F68602B-38DE-34A5-C5DA-456FF08A692A}"/>
              </a:ext>
            </a:extLst>
          </p:cNvPr>
          <p:cNvSpPr/>
          <p:nvPr/>
        </p:nvSpPr>
        <p:spPr>
          <a:xfrm>
            <a:off x="938462" y="5165616"/>
            <a:ext cx="1682818" cy="61542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646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0BF2-FFDC-9041-B5EB-9E654658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Save it inside your working folder </a:t>
            </a:r>
            <a:br>
              <a:rPr lang="en-US" dirty="0"/>
            </a:br>
            <a:r>
              <a:rPr lang="en-US" dirty="0"/>
              <a:t>(for example):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FE56-1A84-A182-29FC-5983109E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Windows</a:t>
            </a:r>
            <a:r>
              <a:rPr lang="en-US" dirty="0"/>
              <a:t>: C:/R_workshop/</a:t>
            </a:r>
          </a:p>
          <a:p>
            <a:r>
              <a:rPr lang="en-US" b="1" dirty="0"/>
              <a:t>Mac</a:t>
            </a:r>
            <a:r>
              <a:rPr lang="en-US" dirty="0"/>
              <a:t>: ~/Desktop/</a:t>
            </a:r>
            <a:r>
              <a:rPr lang="en-US" dirty="0" err="1"/>
              <a:t>R_workshop</a:t>
            </a:r>
            <a:r>
              <a:rPr lang="en-US" dirty="0"/>
              <a:t>/</a:t>
            </a:r>
          </a:p>
          <a:p>
            <a:endParaRPr lang="en-IL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5AE5BA-7276-D62C-9818-D0E97B75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29" y="3429000"/>
            <a:ext cx="10214542" cy="344327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71B8A59-D770-7B99-2C5B-DE8E53A6C320}"/>
              </a:ext>
            </a:extLst>
          </p:cNvPr>
          <p:cNvSpPr/>
          <p:nvPr/>
        </p:nvSpPr>
        <p:spPr>
          <a:xfrm>
            <a:off x="9543769" y="4934069"/>
            <a:ext cx="417095" cy="4331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9520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248E-ABE2-BA8C-7902-FCF31AA1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DEGTrend.R</a:t>
            </a:r>
            <a:r>
              <a:rPr lang="en-US" dirty="0"/>
              <a:t> (for example):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9FC3E-0A56-9C1A-F902-EEB0937FA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err="1"/>
              <a:t>setwd</a:t>
            </a:r>
            <a:r>
              <a:rPr lang="en-US" sz="3200" dirty="0"/>
              <a:t>("&lt;your full path&gt; ")</a:t>
            </a:r>
          </a:p>
          <a:p>
            <a:pPr marL="0" indent="0">
              <a:buNone/>
            </a:pPr>
            <a:r>
              <a:rPr lang="en-US" sz="3600" dirty="0"/>
              <a:t>	</a:t>
            </a:r>
            <a:r>
              <a:rPr lang="en-US" sz="3200" dirty="0"/>
              <a:t>source("</a:t>
            </a:r>
            <a:r>
              <a:rPr lang="en-US" sz="3200" dirty="0" err="1"/>
              <a:t>DEGTrend.R</a:t>
            </a:r>
            <a:r>
              <a:rPr lang="en-US" sz="3200" dirty="0"/>
              <a:t>")</a:t>
            </a:r>
          </a:p>
          <a:p>
            <a:pPr marL="0" indent="0">
              <a:buNone/>
            </a:pPr>
            <a:r>
              <a:rPr lang="en-US" sz="3200" b="1" dirty="0"/>
              <a:t>Or: </a:t>
            </a:r>
          </a:p>
          <a:p>
            <a:pPr marL="0" indent="0">
              <a:buNone/>
            </a:pPr>
            <a:r>
              <a:rPr lang="en-US" sz="3200" dirty="0"/>
              <a:t>	source("&lt;your full path&gt;/</a:t>
            </a:r>
            <a:r>
              <a:rPr lang="en-US" sz="3200" dirty="0" err="1"/>
              <a:t>DEGTrend.R</a:t>
            </a:r>
            <a:r>
              <a:rPr lang="en-US" sz="3200" dirty="0"/>
              <a:t>")</a:t>
            </a: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177323978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169</TotalTime>
  <Words>970</Words>
  <Application>Microsoft Office PowerPoint</Application>
  <PresentationFormat>Widescreen</PresentationFormat>
  <Paragraphs>175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Gill Sans MT</vt:lpstr>
      <vt:lpstr>Parcel</vt:lpstr>
      <vt:lpstr>Introduction to R and RGUI for Running DEGTrend</vt:lpstr>
      <vt:lpstr>Workshop Goal</vt:lpstr>
      <vt:lpstr>What is R?</vt:lpstr>
      <vt:lpstr>R Interface (Windows vs Mac)</vt:lpstr>
      <vt:lpstr>The R Console</vt:lpstr>
      <vt:lpstr>Working Directory (Critical Concept)</vt:lpstr>
      <vt:lpstr>Working Directory Commands</vt:lpstr>
      <vt:lpstr>File Paths (Windows vs Mac)</vt:lpstr>
      <vt:lpstr>Common Path Errors</vt:lpstr>
      <vt:lpstr>Why Use Scripts?</vt:lpstr>
      <vt:lpstr>Running a Script</vt:lpstr>
      <vt:lpstr>Graphics (Windows vs Mac)</vt:lpstr>
      <vt:lpstr>What is a Package?</vt:lpstr>
      <vt:lpstr>Loading Packages</vt:lpstr>
      <vt:lpstr>Checking R Version</vt:lpstr>
      <vt:lpstr>Updating R</vt:lpstr>
      <vt:lpstr>Updating Packages</vt:lpstr>
      <vt:lpstr>Mac-Specific Note (Important)</vt:lpstr>
      <vt:lpstr>Common Errors</vt:lpstr>
      <vt:lpstr>Tomorrow: What You Need Before Starting</vt:lpstr>
      <vt:lpstr>Required R Packages</vt:lpstr>
      <vt:lpstr>Downloading DEGTrend.R from GitHub</vt:lpstr>
      <vt:lpstr>Save it inside your working folder  (for example):</vt:lpstr>
      <vt:lpstr>Run DEGTrend.R (for example):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Kojekine</dc:creator>
  <cp:lastModifiedBy>Michelle Kojekine</cp:lastModifiedBy>
  <cp:revision>1</cp:revision>
  <dcterms:created xsi:type="dcterms:W3CDTF">2026-02-15T10:19:02Z</dcterms:created>
  <dcterms:modified xsi:type="dcterms:W3CDTF">2026-02-16T08:32:51Z</dcterms:modified>
</cp:coreProperties>
</file>