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82" r:id="rId5"/>
    <p:sldId id="283" r:id="rId6"/>
    <p:sldId id="284" r:id="rId7"/>
    <p:sldId id="285" r:id="rId8"/>
    <p:sldId id="286" r:id="rId9"/>
    <p:sldId id="274" r:id="rId10"/>
    <p:sldId id="260" r:id="rId11"/>
    <p:sldId id="261" r:id="rId12"/>
    <p:sldId id="266" r:id="rId13"/>
    <p:sldId id="287" r:id="rId14"/>
    <p:sldId id="288" r:id="rId15"/>
    <p:sldId id="289" r:id="rId16"/>
    <p:sldId id="292" r:id="rId17"/>
    <p:sldId id="290" r:id="rId18"/>
    <p:sldId id="291" r:id="rId19"/>
    <p:sldId id="293" r:id="rId20"/>
    <p:sldId id="294" r:id="rId21"/>
    <p:sldId id="295" r:id="rId22"/>
    <p:sldId id="296" r:id="rId23"/>
    <p:sldId id="297" r:id="rId24"/>
    <p:sldId id="299" r:id="rId25"/>
    <p:sldId id="298" r:id="rId26"/>
    <p:sldId id="300" r:id="rId27"/>
    <p:sldId id="270" r:id="rId28"/>
    <p:sldId id="271" r:id="rId29"/>
    <p:sldId id="272" r:id="rId30"/>
    <p:sldId id="276" r:id="rId31"/>
    <p:sldId id="27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CE6E2-A487-457B-B55E-EEF741631D7A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1E406-F0C9-4D42-B905-A5EC6D35BF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095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1E406-F0C9-4D42-B905-A5EC6D35BFC4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4436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לוקח מלאאא זמן!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1E406-F0C9-4D42-B905-A5EC6D35BFC4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247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2368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5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2894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18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2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520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795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926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484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44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970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A1AFFBA-14E0-40F3-B41B-AB34D061DEAF}" type="datetimeFigureOut">
              <a:rPr lang="en-IL" smtClean="0"/>
              <a:t>17/02/2026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1C97E11-3FBF-4841-B41A-0096C38ABD4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638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r-projec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MichelleKoj/DEGTrend-publi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michelle.kojekine@mail.huji.ac.il" TargetMode="External"/><Relationship Id="rId2" Type="http://schemas.openxmlformats.org/officeDocument/2006/relationships/hyperlink" Target="https://github.com/MichelleKoj/DEGTrend-public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4E4B-7EE6-B355-89C0-833C133B2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DEGTrend</a:t>
            </a:r>
            <a:r>
              <a:rPr lang="en-US" dirty="0"/>
              <a:t>: End-to-End Multi-Condition RNA-seq Analysis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9AE94-8EE3-5B72-C75E-5CF6C4766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1" y="51555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Michelle </a:t>
            </a:r>
            <a:r>
              <a:rPr lang="en-US" dirty="0" err="1"/>
              <a:t>Kojekine</a:t>
            </a:r>
            <a:endParaRPr lang="en-US" dirty="0"/>
          </a:p>
          <a:p>
            <a:pPr algn="l"/>
            <a:r>
              <a:rPr lang="en-US" dirty="0"/>
              <a:t>Dr. Asaf Marco</a:t>
            </a:r>
          </a:p>
          <a:p>
            <a:pPr algn="l"/>
            <a:r>
              <a:rPr lang="en-US"/>
              <a:t>17.02.2026</a:t>
            </a:r>
            <a:endParaRPr lang="en-IL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87B1C22-C066-BB81-E51E-17A7C0A9E4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237" y="5149289"/>
            <a:ext cx="1782763" cy="1591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FFF9C-9983-253F-09AA-9B53EFC0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287" y="-459260"/>
            <a:ext cx="3094426" cy="194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6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D72A-BBB3-BE5E-BAD3-7B7E5BCE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Goal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3E19-0DF0-F4EC-F3F8-17767CF5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68944" cy="39761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By the end of this session you will be able to:</a:t>
            </a:r>
          </a:p>
          <a:p>
            <a:r>
              <a:rPr lang="en-US" sz="2400" dirty="0"/>
              <a:t>Run </a:t>
            </a:r>
            <a:r>
              <a:rPr lang="en-US" sz="2400" dirty="0" err="1"/>
              <a:t>DEGTrend</a:t>
            </a:r>
            <a:r>
              <a:rPr lang="en-US" sz="2400" dirty="0"/>
              <a:t> independently</a:t>
            </a:r>
          </a:p>
          <a:p>
            <a:r>
              <a:rPr lang="en-US" sz="2400" dirty="0"/>
              <a:t>Choose the correct workflow (Option 1 / 2 / 3)</a:t>
            </a:r>
          </a:p>
          <a:p>
            <a:r>
              <a:rPr lang="en-US" sz="2400" dirty="0"/>
              <a:t>Understand required input structure</a:t>
            </a:r>
          </a:p>
          <a:p>
            <a:r>
              <a:rPr lang="en-US" sz="2400" dirty="0"/>
              <a:t>Interpret statistical trend extraction</a:t>
            </a:r>
          </a:p>
          <a:p>
            <a:r>
              <a:rPr lang="en-US" sz="2400" dirty="0"/>
              <a:t>Generate publication-ready outputs</a:t>
            </a:r>
          </a:p>
          <a:p>
            <a:r>
              <a:rPr lang="en-US" sz="2400" dirty="0"/>
              <a:t>Avoid common structural mistakes</a:t>
            </a:r>
          </a:p>
          <a:p>
            <a:pPr marL="0" indent="0">
              <a:buNone/>
            </a:pPr>
            <a:endParaRPr lang="he-IL" sz="2400" dirty="0"/>
          </a:p>
          <a:p>
            <a:pPr marL="0" indent="0">
              <a:buNone/>
            </a:pPr>
            <a:r>
              <a:rPr lang="en-US" sz="2400" dirty="0"/>
              <a:t>This session focuses on logic, not installation.</a:t>
            </a:r>
          </a:p>
        </p:txBody>
      </p:sp>
    </p:spTree>
    <p:extLst>
      <p:ext uri="{BB962C8B-B14F-4D97-AF65-F5344CB8AC3E}">
        <p14:creationId xmlns:p14="http://schemas.microsoft.com/office/powerpoint/2010/main" val="63967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A3CD-D66F-9693-3DA8-54C07AF0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DEGTrend</a:t>
            </a:r>
            <a:r>
              <a:rPr lang="en-US" dirty="0"/>
              <a:t> Does?</a:t>
            </a:r>
            <a:endParaRPr lang="en-IL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DB521D5E-A5B9-83CA-6E69-E0E767D2D5BE}"/>
              </a:ext>
            </a:extLst>
          </p:cNvPr>
          <p:cNvSpPr/>
          <p:nvPr/>
        </p:nvSpPr>
        <p:spPr>
          <a:xfrm rot="255422">
            <a:off x="1033017" y="3591068"/>
            <a:ext cx="2210057" cy="2649631"/>
          </a:xfrm>
          <a:prstGeom prst="leftCircularArrow">
            <a:avLst>
              <a:gd name="adj1" fmla="val 1726"/>
              <a:gd name="adj2" fmla="val 205460"/>
              <a:gd name="adj3" fmla="val 2131419"/>
              <a:gd name="adj4" fmla="val 9174937"/>
              <a:gd name="adj5" fmla="val 2013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BAE7223-D2DD-F8D7-E804-20838520CB11}"/>
              </a:ext>
            </a:extLst>
          </p:cNvPr>
          <p:cNvSpPr/>
          <p:nvPr/>
        </p:nvSpPr>
        <p:spPr>
          <a:xfrm>
            <a:off x="222165" y="4621868"/>
            <a:ext cx="1560902" cy="717162"/>
          </a:xfrm>
          <a:custGeom>
            <a:avLst/>
            <a:gdLst>
              <a:gd name="connsiteX0" fmla="*/ 0 w 1560902"/>
              <a:gd name="connsiteY0" fmla="*/ 71716 h 717162"/>
              <a:gd name="connsiteX1" fmla="*/ 71716 w 1560902"/>
              <a:gd name="connsiteY1" fmla="*/ 0 h 717162"/>
              <a:gd name="connsiteX2" fmla="*/ 1489186 w 1560902"/>
              <a:gd name="connsiteY2" fmla="*/ 0 h 717162"/>
              <a:gd name="connsiteX3" fmla="*/ 1560902 w 1560902"/>
              <a:gd name="connsiteY3" fmla="*/ 71716 h 717162"/>
              <a:gd name="connsiteX4" fmla="*/ 1560902 w 1560902"/>
              <a:gd name="connsiteY4" fmla="*/ 645446 h 717162"/>
              <a:gd name="connsiteX5" fmla="*/ 1489186 w 1560902"/>
              <a:gd name="connsiteY5" fmla="*/ 717162 h 717162"/>
              <a:gd name="connsiteX6" fmla="*/ 71716 w 1560902"/>
              <a:gd name="connsiteY6" fmla="*/ 717162 h 717162"/>
              <a:gd name="connsiteX7" fmla="*/ 0 w 1560902"/>
              <a:gd name="connsiteY7" fmla="*/ 645446 h 717162"/>
              <a:gd name="connsiteX8" fmla="*/ 0 w 1560902"/>
              <a:gd name="connsiteY8" fmla="*/ 71716 h 71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0902" h="717162">
                <a:moveTo>
                  <a:pt x="0" y="71716"/>
                </a:moveTo>
                <a:cubicBezTo>
                  <a:pt x="0" y="32108"/>
                  <a:pt x="32108" y="0"/>
                  <a:pt x="71716" y="0"/>
                </a:cubicBezTo>
                <a:lnTo>
                  <a:pt x="1489186" y="0"/>
                </a:lnTo>
                <a:cubicBezTo>
                  <a:pt x="1528794" y="0"/>
                  <a:pt x="1560902" y="32108"/>
                  <a:pt x="1560902" y="71716"/>
                </a:cubicBezTo>
                <a:lnTo>
                  <a:pt x="1560902" y="645446"/>
                </a:lnTo>
                <a:cubicBezTo>
                  <a:pt x="1560902" y="685054"/>
                  <a:pt x="1528794" y="717162"/>
                  <a:pt x="1489186" y="717162"/>
                </a:cubicBezTo>
                <a:lnTo>
                  <a:pt x="71716" y="717162"/>
                </a:lnTo>
                <a:cubicBezTo>
                  <a:pt x="32108" y="717162"/>
                  <a:pt x="0" y="685054"/>
                  <a:pt x="0" y="645446"/>
                </a:cubicBezTo>
                <a:lnTo>
                  <a:pt x="0" y="71716"/>
                </a:ln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0" vert="horz" wrap="square" lIns="59105" tIns="46405" rIns="59105" bIns="4640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Input</a:t>
            </a:r>
            <a:endParaRPr lang="en-IL" sz="2000" b="1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970A25-40EE-96F9-453B-77630985FAF6}"/>
              </a:ext>
            </a:extLst>
          </p:cNvPr>
          <p:cNvSpPr/>
          <p:nvPr/>
        </p:nvSpPr>
        <p:spPr>
          <a:xfrm>
            <a:off x="2000801" y="3601939"/>
            <a:ext cx="3072911" cy="1923952"/>
          </a:xfrm>
          <a:custGeom>
            <a:avLst/>
            <a:gdLst>
              <a:gd name="connsiteX0" fmla="*/ 0 w 3072911"/>
              <a:gd name="connsiteY0" fmla="*/ 192395 h 1923952"/>
              <a:gd name="connsiteX1" fmla="*/ 192395 w 3072911"/>
              <a:gd name="connsiteY1" fmla="*/ 0 h 1923952"/>
              <a:gd name="connsiteX2" fmla="*/ 2880516 w 3072911"/>
              <a:gd name="connsiteY2" fmla="*/ 0 h 1923952"/>
              <a:gd name="connsiteX3" fmla="*/ 3072911 w 3072911"/>
              <a:gd name="connsiteY3" fmla="*/ 192395 h 1923952"/>
              <a:gd name="connsiteX4" fmla="*/ 3072911 w 3072911"/>
              <a:gd name="connsiteY4" fmla="*/ 1731557 h 1923952"/>
              <a:gd name="connsiteX5" fmla="*/ 2880516 w 3072911"/>
              <a:gd name="connsiteY5" fmla="*/ 1923952 h 1923952"/>
              <a:gd name="connsiteX6" fmla="*/ 192395 w 3072911"/>
              <a:gd name="connsiteY6" fmla="*/ 1923952 h 1923952"/>
              <a:gd name="connsiteX7" fmla="*/ 0 w 3072911"/>
              <a:gd name="connsiteY7" fmla="*/ 1731557 h 1923952"/>
              <a:gd name="connsiteX8" fmla="*/ 0 w 3072911"/>
              <a:gd name="connsiteY8" fmla="*/ 192395 h 192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72911" h="1923952">
                <a:moveTo>
                  <a:pt x="0" y="192395"/>
                </a:moveTo>
                <a:cubicBezTo>
                  <a:pt x="0" y="86138"/>
                  <a:pt x="86138" y="0"/>
                  <a:pt x="192395" y="0"/>
                </a:cubicBezTo>
                <a:lnTo>
                  <a:pt x="2880516" y="0"/>
                </a:lnTo>
                <a:cubicBezTo>
                  <a:pt x="2986773" y="0"/>
                  <a:pt x="3072911" y="86138"/>
                  <a:pt x="3072911" y="192395"/>
                </a:cubicBezTo>
                <a:lnTo>
                  <a:pt x="3072911" y="1731557"/>
                </a:lnTo>
                <a:cubicBezTo>
                  <a:pt x="3072911" y="1837814"/>
                  <a:pt x="2986773" y="1923952"/>
                  <a:pt x="2880516" y="1923952"/>
                </a:cubicBezTo>
                <a:lnTo>
                  <a:pt x="192395" y="1923952"/>
                </a:lnTo>
                <a:cubicBezTo>
                  <a:pt x="86138" y="1923952"/>
                  <a:pt x="0" y="1837814"/>
                  <a:pt x="0" y="1731557"/>
                </a:cubicBezTo>
                <a:lnTo>
                  <a:pt x="0" y="192395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8100" tIns="580376" rIns="168100" bIns="16810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Remove lowly-expressed genes</a:t>
            </a:r>
            <a:endParaRPr lang="en-IL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Map gene IDs to gene symbols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Normalization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Remove unwanted variations using RUVSeq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Remove outliers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21173A43-693D-6D23-D4C2-682AC3F48A88}"/>
              </a:ext>
            </a:extLst>
          </p:cNvPr>
          <p:cNvSpPr/>
          <p:nvPr/>
        </p:nvSpPr>
        <p:spPr>
          <a:xfrm>
            <a:off x="3818959" y="2920469"/>
            <a:ext cx="2675876" cy="2675876"/>
          </a:xfrm>
          <a:prstGeom prst="circularArrow">
            <a:avLst>
              <a:gd name="adj1" fmla="val 1709"/>
              <a:gd name="adj2" fmla="val 203366"/>
              <a:gd name="adj3" fmla="val 19043642"/>
              <a:gd name="adj4" fmla="val 11998030"/>
              <a:gd name="adj5" fmla="val 1994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L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453387A-6979-D846-9C75-03FA7B2A32A9}"/>
              </a:ext>
            </a:extLst>
          </p:cNvPr>
          <p:cNvSpPr/>
          <p:nvPr/>
        </p:nvSpPr>
        <p:spPr>
          <a:xfrm>
            <a:off x="2612945" y="3515773"/>
            <a:ext cx="2339214" cy="600003"/>
          </a:xfrm>
          <a:custGeom>
            <a:avLst/>
            <a:gdLst>
              <a:gd name="connsiteX0" fmla="*/ 0 w 2339214"/>
              <a:gd name="connsiteY0" fmla="*/ 60000 h 600003"/>
              <a:gd name="connsiteX1" fmla="*/ 60000 w 2339214"/>
              <a:gd name="connsiteY1" fmla="*/ 0 h 600003"/>
              <a:gd name="connsiteX2" fmla="*/ 2279214 w 2339214"/>
              <a:gd name="connsiteY2" fmla="*/ 0 h 600003"/>
              <a:gd name="connsiteX3" fmla="*/ 2339214 w 2339214"/>
              <a:gd name="connsiteY3" fmla="*/ 60000 h 600003"/>
              <a:gd name="connsiteX4" fmla="*/ 2339214 w 2339214"/>
              <a:gd name="connsiteY4" fmla="*/ 540003 h 600003"/>
              <a:gd name="connsiteX5" fmla="*/ 2279214 w 2339214"/>
              <a:gd name="connsiteY5" fmla="*/ 600003 h 600003"/>
              <a:gd name="connsiteX6" fmla="*/ 60000 w 2339214"/>
              <a:gd name="connsiteY6" fmla="*/ 600003 h 600003"/>
              <a:gd name="connsiteX7" fmla="*/ 0 w 2339214"/>
              <a:gd name="connsiteY7" fmla="*/ 540003 h 600003"/>
              <a:gd name="connsiteX8" fmla="*/ 0 w 2339214"/>
              <a:gd name="connsiteY8" fmla="*/ 60000 h 60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9214" h="600003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lnTo>
                  <a:pt x="2279214" y="0"/>
                </a:lnTo>
                <a:cubicBezTo>
                  <a:pt x="2312351" y="0"/>
                  <a:pt x="2339214" y="26863"/>
                  <a:pt x="2339214" y="60000"/>
                </a:cubicBezTo>
                <a:lnTo>
                  <a:pt x="2339214" y="540003"/>
                </a:lnTo>
                <a:cubicBezTo>
                  <a:pt x="2339214" y="573140"/>
                  <a:pt x="2312351" y="600003"/>
                  <a:pt x="2279214" y="600003"/>
                </a:cubicBezTo>
                <a:lnTo>
                  <a:pt x="60000" y="600003"/>
                </a:lnTo>
                <a:cubicBezTo>
                  <a:pt x="26863" y="600003"/>
                  <a:pt x="0" y="573140"/>
                  <a:pt x="0" y="540003"/>
                </a:cubicBezTo>
                <a:lnTo>
                  <a:pt x="0" y="6000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0" vert="horz" wrap="square" lIns="55673" tIns="42973" rIns="55673" bIns="42973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Preprocessing &amp; Quality Control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3220E54-B02D-2A88-3817-DC993B2D407C}"/>
              </a:ext>
            </a:extLst>
          </p:cNvPr>
          <p:cNvSpPr/>
          <p:nvPr/>
        </p:nvSpPr>
        <p:spPr>
          <a:xfrm>
            <a:off x="5333481" y="3503074"/>
            <a:ext cx="1627175" cy="1007333"/>
          </a:xfrm>
          <a:custGeom>
            <a:avLst/>
            <a:gdLst>
              <a:gd name="connsiteX0" fmla="*/ 0 w 1627175"/>
              <a:gd name="connsiteY0" fmla="*/ 100733 h 1007333"/>
              <a:gd name="connsiteX1" fmla="*/ 100733 w 1627175"/>
              <a:gd name="connsiteY1" fmla="*/ 0 h 1007333"/>
              <a:gd name="connsiteX2" fmla="*/ 1526442 w 1627175"/>
              <a:gd name="connsiteY2" fmla="*/ 0 h 1007333"/>
              <a:gd name="connsiteX3" fmla="*/ 1627175 w 1627175"/>
              <a:gd name="connsiteY3" fmla="*/ 100733 h 1007333"/>
              <a:gd name="connsiteX4" fmla="*/ 1627175 w 1627175"/>
              <a:gd name="connsiteY4" fmla="*/ 906600 h 1007333"/>
              <a:gd name="connsiteX5" fmla="*/ 1526442 w 1627175"/>
              <a:gd name="connsiteY5" fmla="*/ 1007333 h 1007333"/>
              <a:gd name="connsiteX6" fmla="*/ 100733 w 1627175"/>
              <a:gd name="connsiteY6" fmla="*/ 1007333 h 1007333"/>
              <a:gd name="connsiteX7" fmla="*/ 0 w 1627175"/>
              <a:gd name="connsiteY7" fmla="*/ 906600 h 1007333"/>
              <a:gd name="connsiteX8" fmla="*/ 0 w 1627175"/>
              <a:gd name="connsiteY8" fmla="*/ 100733 h 100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7175" h="1007333">
                <a:moveTo>
                  <a:pt x="0" y="100733"/>
                </a:moveTo>
                <a:cubicBezTo>
                  <a:pt x="0" y="45100"/>
                  <a:pt x="45100" y="0"/>
                  <a:pt x="100733" y="0"/>
                </a:cubicBezTo>
                <a:lnTo>
                  <a:pt x="1526442" y="0"/>
                </a:lnTo>
                <a:cubicBezTo>
                  <a:pt x="1582075" y="0"/>
                  <a:pt x="1627175" y="45100"/>
                  <a:pt x="1627175" y="100733"/>
                </a:cubicBezTo>
                <a:lnTo>
                  <a:pt x="1627175" y="906600"/>
                </a:lnTo>
                <a:cubicBezTo>
                  <a:pt x="1627175" y="962233"/>
                  <a:pt x="1582075" y="1007333"/>
                  <a:pt x="1526442" y="1007333"/>
                </a:cubicBezTo>
                <a:lnTo>
                  <a:pt x="100733" y="1007333"/>
                </a:lnTo>
                <a:cubicBezTo>
                  <a:pt x="45100" y="1007333"/>
                  <a:pt x="0" y="962233"/>
                  <a:pt x="0" y="906600"/>
                </a:cubicBezTo>
                <a:lnTo>
                  <a:pt x="0" y="100733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7007" tIns="147007" rIns="147007" bIns="362864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Differential expression analysis using DESeq2</a:t>
            </a:r>
            <a:endParaRPr lang="en-IL" sz="1400" kern="12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40B9B2BA-B9A3-754F-D0BB-6332AB48E349}"/>
              </a:ext>
            </a:extLst>
          </p:cNvPr>
          <p:cNvSpPr/>
          <p:nvPr/>
        </p:nvSpPr>
        <p:spPr>
          <a:xfrm>
            <a:off x="6211418" y="3856635"/>
            <a:ext cx="2261545" cy="2261545"/>
          </a:xfrm>
          <a:prstGeom prst="leftCircularArrow">
            <a:avLst>
              <a:gd name="adj1" fmla="val 2022"/>
              <a:gd name="adj2" fmla="val 242346"/>
              <a:gd name="adj3" fmla="val 2385764"/>
              <a:gd name="adj4" fmla="val 9392396"/>
              <a:gd name="adj5" fmla="val 2359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52E0839-1D0B-14E2-4E82-DCD64CE62B09}"/>
              </a:ext>
            </a:extLst>
          </p:cNvPr>
          <p:cNvSpPr/>
          <p:nvPr/>
        </p:nvSpPr>
        <p:spPr>
          <a:xfrm>
            <a:off x="5528794" y="4433593"/>
            <a:ext cx="1643072" cy="968195"/>
          </a:xfrm>
          <a:custGeom>
            <a:avLst/>
            <a:gdLst>
              <a:gd name="connsiteX0" fmla="*/ 0 w 1643072"/>
              <a:gd name="connsiteY0" fmla="*/ 96820 h 968195"/>
              <a:gd name="connsiteX1" fmla="*/ 96820 w 1643072"/>
              <a:gd name="connsiteY1" fmla="*/ 0 h 968195"/>
              <a:gd name="connsiteX2" fmla="*/ 1546253 w 1643072"/>
              <a:gd name="connsiteY2" fmla="*/ 0 h 968195"/>
              <a:gd name="connsiteX3" fmla="*/ 1643073 w 1643072"/>
              <a:gd name="connsiteY3" fmla="*/ 96820 h 968195"/>
              <a:gd name="connsiteX4" fmla="*/ 1643072 w 1643072"/>
              <a:gd name="connsiteY4" fmla="*/ 871376 h 968195"/>
              <a:gd name="connsiteX5" fmla="*/ 1546252 w 1643072"/>
              <a:gd name="connsiteY5" fmla="*/ 968196 h 968195"/>
              <a:gd name="connsiteX6" fmla="*/ 96820 w 1643072"/>
              <a:gd name="connsiteY6" fmla="*/ 968195 h 968195"/>
              <a:gd name="connsiteX7" fmla="*/ 0 w 1643072"/>
              <a:gd name="connsiteY7" fmla="*/ 871375 h 968195"/>
              <a:gd name="connsiteX8" fmla="*/ 0 w 1643072"/>
              <a:gd name="connsiteY8" fmla="*/ 96820 h 96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3072" h="968195">
                <a:moveTo>
                  <a:pt x="0" y="96820"/>
                </a:moveTo>
                <a:cubicBezTo>
                  <a:pt x="0" y="43348"/>
                  <a:pt x="43348" y="0"/>
                  <a:pt x="96820" y="0"/>
                </a:cubicBezTo>
                <a:lnTo>
                  <a:pt x="1546253" y="0"/>
                </a:lnTo>
                <a:cubicBezTo>
                  <a:pt x="1599725" y="0"/>
                  <a:pt x="1643073" y="43348"/>
                  <a:pt x="1643073" y="96820"/>
                </a:cubicBezTo>
                <a:cubicBezTo>
                  <a:pt x="1643073" y="355005"/>
                  <a:pt x="1643072" y="613191"/>
                  <a:pt x="1643072" y="871376"/>
                </a:cubicBezTo>
                <a:cubicBezTo>
                  <a:pt x="1643072" y="924848"/>
                  <a:pt x="1599724" y="968196"/>
                  <a:pt x="1546252" y="968196"/>
                </a:cubicBezTo>
                <a:lnTo>
                  <a:pt x="96820" y="968195"/>
                </a:lnTo>
                <a:cubicBezTo>
                  <a:pt x="43348" y="968195"/>
                  <a:pt x="0" y="924847"/>
                  <a:pt x="0" y="871375"/>
                </a:cubicBezTo>
                <a:lnTo>
                  <a:pt x="0" y="9682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0" vert="horz" wrap="square" lIns="66457" tIns="53757" rIns="66457" bIns="53757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Differential Expression Analysis</a:t>
            </a:r>
            <a:endParaRPr lang="en-IL" sz="2000" kern="12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A587F56-885C-99E9-5DC0-D99AAB233A11}"/>
              </a:ext>
            </a:extLst>
          </p:cNvPr>
          <p:cNvSpPr/>
          <p:nvPr/>
        </p:nvSpPr>
        <p:spPr>
          <a:xfrm>
            <a:off x="7389600" y="3858873"/>
            <a:ext cx="2298539" cy="1745799"/>
          </a:xfrm>
          <a:custGeom>
            <a:avLst/>
            <a:gdLst>
              <a:gd name="connsiteX0" fmla="*/ 0 w 2298539"/>
              <a:gd name="connsiteY0" fmla="*/ 174580 h 1745799"/>
              <a:gd name="connsiteX1" fmla="*/ 174580 w 2298539"/>
              <a:gd name="connsiteY1" fmla="*/ 0 h 1745799"/>
              <a:gd name="connsiteX2" fmla="*/ 2123959 w 2298539"/>
              <a:gd name="connsiteY2" fmla="*/ 0 h 1745799"/>
              <a:gd name="connsiteX3" fmla="*/ 2298539 w 2298539"/>
              <a:gd name="connsiteY3" fmla="*/ 174580 h 1745799"/>
              <a:gd name="connsiteX4" fmla="*/ 2298539 w 2298539"/>
              <a:gd name="connsiteY4" fmla="*/ 1571219 h 1745799"/>
              <a:gd name="connsiteX5" fmla="*/ 2123959 w 2298539"/>
              <a:gd name="connsiteY5" fmla="*/ 1745799 h 1745799"/>
              <a:gd name="connsiteX6" fmla="*/ 174580 w 2298539"/>
              <a:gd name="connsiteY6" fmla="*/ 1745799 h 1745799"/>
              <a:gd name="connsiteX7" fmla="*/ 0 w 2298539"/>
              <a:gd name="connsiteY7" fmla="*/ 1571219 h 1745799"/>
              <a:gd name="connsiteX8" fmla="*/ 0 w 2298539"/>
              <a:gd name="connsiteY8" fmla="*/ 174580 h 174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39" h="1745799">
                <a:moveTo>
                  <a:pt x="0" y="174580"/>
                </a:moveTo>
                <a:cubicBezTo>
                  <a:pt x="0" y="78162"/>
                  <a:pt x="78162" y="0"/>
                  <a:pt x="174580" y="0"/>
                </a:cubicBezTo>
                <a:lnTo>
                  <a:pt x="2123959" y="0"/>
                </a:lnTo>
                <a:cubicBezTo>
                  <a:pt x="2220377" y="0"/>
                  <a:pt x="2298539" y="78162"/>
                  <a:pt x="2298539" y="174580"/>
                </a:cubicBezTo>
                <a:lnTo>
                  <a:pt x="2298539" y="1571219"/>
                </a:lnTo>
                <a:cubicBezTo>
                  <a:pt x="2298539" y="1667637"/>
                  <a:pt x="2220377" y="1745799"/>
                  <a:pt x="2123959" y="1745799"/>
                </a:cubicBezTo>
                <a:lnTo>
                  <a:pt x="174580" y="1745799"/>
                </a:lnTo>
                <a:cubicBezTo>
                  <a:pt x="78162" y="1745799"/>
                  <a:pt x="0" y="1667637"/>
                  <a:pt x="0" y="1571219"/>
                </a:cubicBezTo>
                <a:lnTo>
                  <a:pt x="0" y="17458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4001" tIns="538101" rIns="164001" bIns="164001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Identify shared vs. unique DEGs across conditions</a:t>
            </a:r>
            <a:endParaRPr lang="en-IL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Cluster genes by directional change across conditions</a:t>
            </a: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F44D17F8-0507-FB1E-6FBD-D5DEA5C8E7C4}"/>
              </a:ext>
            </a:extLst>
          </p:cNvPr>
          <p:cNvSpPr/>
          <p:nvPr/>
        </p:nvSpPr>
        <p:spPr>
          <a:xfrm>
            <a:off x="8610223" y="2849095"/>
            <a:ext cx="2249215" cy="2249215"/>
          </a:xfrm>
          <a:prstGeom prst="circularArrow">
            <a:avLst>
              <a:gd name="adj1" fmla="val 2033"/>
              <a:gd name="adj2" fmla="val 243737"/>
              <a:gd name="adj3" fmla="val 19475460"/>
              <a:gd name="adj4" fmla="val 12470218"/>
              <a:gd name="adj5" fmla="val 2372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L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0FC1CA7-9389-050C-E93A-0F42E3C97890}"/>
              </a:ext>
            </a:extLst>
          </p:cNvPr>
          <p:cNvSpPr/>
          <p:nvPr/>
        </p:nvSpPr>
        <p:spPr>
          <a:xfrm>
            <a:off x="7886640" y="3471689"/>
            <a:ext cx="1795051" cy="844445"/>
          </a:xfrm>
          <a:custGeom>
            <a:avLst/>
            <a:gdLst>
              <a:gd name="connsiteX0" fmla="*/ 0 w 1795051"/>
              <a:gd name="connsiteY0" fmla="*/ 84445 h 844445"/>
              <a:gd name="connsiteX1" fmla="*/ 84445 w 1795051"/>
              <a:gd name="connsiteY1" fmla="*/ 0 h 844445"/>
              <a:gd name="connsiteX2" fmla="*/ 1710607 w 1795051"/>
              <a:gd name="connsiteY2" fmla="*/ 0 h 844445"/>
              <a:gd name="connsiteX3" fmla="*/ 1795052 w 1795051"/>
              <a:gd name="connsiteY3" fmla="*/ 84445 h 844445"/>
              <a:gd name="connsiteX4" fmla="*/ 1795051 w 1795051"/>
              <a:gd name="connsiteY4" fmla="*/ 760001 h 844445"/>
              <a:gd name="connsiteX5" fmla="*/ 1710606 w 1795051"/>
              <a:gd name="connsiteY5" fmla="*/ 844446 h 844445"/>
              <a:gd name="connsiteX6" fmla="*/ 84445 w 1795051"/>
              <a:gd name="connsiteY6" fmla="*/ 844445 h 844445"/>
              <a:gd name="connsiteX7" fmla="*/ 0 w 1795051"/>
              <a:gd name="connsiteY7" fmla="*/ 760000 h 844445"/>
              <a:gd name="connsiteX8" fmla="*/ 0 w 1795051"/>
              <a:gd name="connsiteY8" fmla="*/ 84445 h 844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5051" h="844445">
                <a:moveTo>
                  <a:pt x="0" y="84445"/>
                </a:moveTo>
                <a:cubicBezTo>
                  <a:pt x="0" y="37807"/>
                  <a:pt x="37807" y="0"/>
                  <a:pt x="84445" y="0"/>
                </a:cubicBezTo>
                <a:lnTo>
                  <a:pt x="1710607" y="0"/>
                </a:lnTo>
                <a:cubicBezTo>
                  <a:pt x="1757245" y="0"/>
                  <a:pt x="1795052" y="37807"/>
                  <a:pt x="1795052" y="84445"/>
                </a:cubicBezTo>
                <a:cubicBezTo>
                  <a:pt x="1795052" y="309630"/>
                  <a:pt x="1795051" y="534816"/>
                  <a:pt x="1795051" y="760001"/>
                </a:cubicBezTo>
                <a:cubicBezTo>
                  <a:pt x="1795051" y="806639"/>
                  <a:pt x="1757244" y="844446"/>
                  <a:pt x="1710606" y="844446"/>
                </a:cubicBezTo>
                <a:lnTo>
                  <a:pt x="84445" y="844445"/>
                </a:lnTo>
                <a:cubicBezTo>
                  <a:pt x="37807" y="844445"/>
                  <a:pt x="0" y="806638"/>
                  <a:pt x="0" y="760000"/>
                </a:cubicBezTo>
                <a:lnTo>
                  <a:pt x="0" y="84445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0" vert="horz" wrap="square" lIns="62833" tIns="50133" rIns="62833" bIns="50133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kern="1200" dirty="0"/>
              <a:t>Expletory Analysis</a:t>
            </a:r>
            <a:endParaRPr lang="en-IL" sz="2000" kern="120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5E94A69-8F9D-B89E-A394-B65E420FDC51}"/>
              </a:ext>
            </a:extLst>
          </p:cNvPr>
          <p:cNvSpPr/>
          <p:nvPr/>
        </p:nvSpPr>
        <p:spPr>
          <a:xfrm>
            <a:off x="9905874" y="3463386"/>
            <a:ext cx="1804921" cy="1642363"/>
          </a:xfrm>
          <a:custGeom>
            <a:avLst/>
            <a:gdLst>
              <a:gd name="connsiteX0" fmla="*/ 0 w 1804921"/>
              <a:gd name="connsiteY0" fmla="*/ 164236 h 1642363"/>
              <a:gd name="connsiteX1" fmla="*/ 164236 w 1804921"/>
              <a:gd name="connsiteY1" fmla="*/ 0 h 1642363"/>
              <a:gd name="connsiteX2" fmla="*/ 1640685 w 1804921"/>
              <a:gd name="connsiteY2" fmla="*/ 0 h 1642363"/>
              <a:gd name="connsiteX3" fmla="*/ 1804921 w 1804921"/>
              <a:gd name="connsiteY3" fmla="*/ 164236 h 1642363"/>
              <a:gd name="connsiteX4" fmla="*/ 1804921 w 1804921"/>
              <a:gd name="connsiteY4" fmla="*/ 1478127 h 1642363"/>
              <a:gd name="connsiteX5" fmla="*/ 1640685 w 1804921"/>
              <a:gd name="connsiteY5" fmla="*/ 1642363 h 1642363"/>
              <a:gd name="connsiteX6" fmla="*/ 164236 w 1804921"/>
              <a:gd name="connsiteY6" fmla="*/ 1642363 h 1642363"/>
              <a:gd name="connsiteX7" fmla="*/ 0 w 1804921"/>
              <a:gd name="connsiteY7" fmla="*/ 1478127 h 1642363"/>
              <a:gd name="connsiteX8" fmla="*/ 0 w 1804921"/>
              <a:gd name="connsiteY8" fmla="*/ 164236 h 164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4921" h="1642363">
                <a:moveTo>
                  <a:pt x="0" y="164236"/>
                </a:moveTo>
                <a:cubicBezTo>
                  <a:pt x="0" y="73531"/>
                  <a:pt x="73531" y="0"/>
                  <a:pt x="164236" y="0"/>
                </a:cubicBezTo>
                <a:lnTo>
                  <a:pt x="1640685" y="0"/>
                </a:lnTo>
                <a:cubicBezTo>
                  <a:pt x="1731390" y="0"/>
                  <a:pt x="1804921" y="73531"/>
                  <a:pt x="1804921" y="164236"/>
                </a:cubicBezTo>
                <a:lnTo>
                  <a:pt x="1804921" y="1478127"/>
                </a:lnTo>
                <a:cubicBezTo>
                  <a:pt x="1804921" y="1568832"/>
                  <a:pt x="1731390" y="1642363"/>
                  <a:pt x="1640685" y="1642363"/>
                </a:cubicBezTo>
                <a:lnTo>
                  <a:pt x="164236" y="1642363"/>
                </a:lnTo>
                <a:cubicBezTo>
                  <a:pt x="73531" y="1642363"/>
                  <a:pt x="0" y="1568832"/>
                  <a:pt x="0" y="1478127"/>
                </a:cubicBezTo>
                <a:lnTo>
                  <a:pt x="0" y="164236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1620" tIns="161620" rIns="161620" bIns="513555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Heatmaps of expression for selected overlaps</a:t>
            </a:r>
            <a:endParaRPr lang="en-IL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Venn diagrams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/>
              <a:t>Trend plots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C63ABAF-9D9A-D6DD-F654-2A7B003D0811}"/>
              </a:ext>
            </a:extLst>
          </p:cNvPr>
          <p:cNvSpPr/>
          <p:nvPr/>
        </p:nvSpPr>
        <p:spPr>
          <a:xfrm>
            <a:off x="10273179" y="4936544"/>
            <a:ext cx="1560902" cy="717162"/>
          </a:xfrm>
          <a:custGeom>
            <a:avLst/>
            <a:gdLst>
              <a:gd name="connsiteX0" fmla="*/ 0 w 1560902"/>
              <a:gd name="connsiteY0" fmla="*/ 71716 h 717162"/>
              <a:gd name="connsiteX1" fmla="*/ 71716 w 1560902"/>
              <a:gd name="connsiteY1" fmla="*/ 0 h 717162"/>
              <a:gd name="connsiteX2" fmla="*/ 1489186 w 1560902"/>
              <a:gd name="connsiteY2" fmla="*/ 0 h 717162"/>
              <a:gd name="connsiteX3" fmla="*/ 1560902 w 1560902"/>
              <a:gd name="connsiteY3" fmla="*/ 71716 h 717162"/>
              <a:gd name="connsiteX4" fmla="*/ 1560902 w 1560902"/>
              <a:gd name="connsiteY4" fmla="*/ 645446 h 717162"/>
              <a:gd name="connsiteX5" fmla="*/ 1489186 w 1560902"/>
              <a:gd name="connsiteY5" fmla="*/ 717162 h 717162"/>
              <a:gd name="connsiteX6" fmla="*/ 71716 w 1560902"/>
              <a:gd name="connsiteY6" fmla="*/ 717162 h 717162"/>
              <a:gd name="connsiteX7" fmla="*/ 0 w 1560902"/>
              <a:gd name="connsiteY7" fmla="*/ 645446 h 717162"/>
              <a:gd name="connsiteX8" fmla="*/ 0 w 1560902"/>
              <a:gd name="connsiteY8" fmla="*/ 71716 h 71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0902" h="717162">
                <a:moveTo>
                  <a:pt x="0" y="71716"/>
                </a:moveTo>
                <a:cubicBezTo>
                  <a:pt x="0" y="32108"/>
                  <a:pt x="32108" y="0"/>
                  <a:pt x="71716" y="0"/>
                </a:cubicBezTo>
                <a:lnTo>
                  <a:pt x="1489186" y="0"/>
                </a:lnTo>
                <a:cubicBezTo>
                  <a:pt x="1528794" y="0"/>
                  <a:pt x="1560902" y="32108"/>
                  <a:pt x="1560902" y="71716"/>
                </a:cubicBezTo>
                <a:lnTo>
                  <a:pt x="1560902" y="645446"/>
                </a:lnTo>
                <a:cubicBezTo>
                  <a:pt x="1560902" y="685054"/>
                  <a:pt x="1528794" y="717162"/>
                  <a:pt x="1489186" y="717162"/>
                </a:cubicBezTo>
                <a:lnTo>
                  <a:pt x="71716" y="717162"/>
                </a:lnTo>
                <a:cubicBezTo>
                  <a:pt x="32108" y="717162"/>
                  <a:pt x="0" y="685054"/>
                  <a:pt x="0" y="645446"/>
                </a:cubicBezTo>
                <a:lnTo>
                  <a:pt x="0" y="71716"/>
                </a:ln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0" vert="horz" wrap="square" lIns="59105" tIns="46405" rIns="59105" bIns="4640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Output</a:t>
            </a:r>
            <a:endParaRPr lang="en-IL" sz="2000" b="1" kern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412691-10FF-A775-5EC8-6781D89DA956}"/>
              </a:ext>
            </a:extLst>
          </p:cNvPr>
          <p:cNvSpPr txBox="1"/>
          <p:nvPr/>
        </p:nvSpPr>
        <p:spPr>
          <a:xfrm>
            <a:off x="4392588" y="2436503"/>
            <a:ext cx="1627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PCA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RLE plots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A4050B-7A1B-CFA0-13EC-0A92B0D28A57}"/>
              </a:ext>
            </a:extLst>
          </p:cNvPr>
          <p:cNvSpPr txBox="1"/>
          <p:nvPr/>
        </p:nvSpPr>
        <p:spPr>
          <a:xfrm>
            <a:off x="6019763" y="6108088"/>
            <a:ext cx="32643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Normalized / Filtered counts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Combined DEGs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Extended results table</a:t>
            </a:r>
          </a:p>
        </p:txBody>
      </p:sp>
    </p:spTree>
    <p:extLst>
      <p:ext uri="{BB962C8B-B14F-4D97-AF65-F5344CB8AC3E}">
        <p14:creationId xmlns:p14="http://schemas.microsoft.com/office/powerpoint/2010/main" val="3733440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8451-0443-7C43-92B5-32F9D86F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46A8-6284-9E33-2CB6-C0F7E819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You Need Before Starting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0440-D975-7288-778A-DEC2EC57D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99424" cy="4108196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R installed on your computer (version 4.4 or higher).</a:t>
            </a:r>
          </a:p>
          <a:p>
            <a:pPr lvl="1"/>
            <a:r>
              <a:rPr lang="en-US" sz="2400" dirty="0"/>
              <a:t>If you don’t have R: download it from https://cran.r-project.org/ (or </a:t>
            </a:r>
            <a:r>
              <a:rPr lang="en-US" sz="2400" dirty="0">
                <a:hlinkClick r:id="rId2"/>
              </a:rPr>
              <a:t>https://cloud.r-project.org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Required R Packages Installation (as detailed in the git)</a:t>
            </a:r>
          </a:p>
          <a:p>
            <a:r>
              <a:rPr lang="en-US" sz="2800" dirty="0"/>
              <a:t>Your data files ready (DEG tables, count matrix, sample info, etc.).</a:t>
            </a:r>
          </a:p>
          <a:p>
            <a:pPr lvl="1"/>
            <a:r>
              <a:rPr lang="en-US" sz="2400" dirty="0"/>
              <a:t>Example data for </a:t>
            </a:r>
            <a:r>
              <a:rPr lang="en-US" sz="2400" dirty="0" err="1"/>
              <a:t>DEGTrend</a:t>
            </a:r>
            <a:r>
              <a:rPr lang="en-US" sz="2400" dirty="0"/>
              <a:t> is available in the following Google Drive folder:</a:t>
            </a:r>
          </a:p>
          <a:p>
            <a:pPr marL="457200" lvl="1" indent="0">
              <a:buNone/>
            </a:pPr>
            <a:r>
              <a:rPr lang="en-US" sz="2400" dirty="0"/>
              <a:t>https://drive.google.com/drive/folders/1HgtBbxDIWFP47Bp6M3hT0WvLkLlPJlVE?usp=sharing</a:t>
            </a:r>
          </a:p>
          <a:p>
            <a:r>
              <a:rPr lang="en-US" sz="2800" dirty="0"/>
              <a:t>A folder where you want all results to be saved (the program will ask you for this).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68039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E770-1644-6E44-65EE-89B17331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E02-1A33-48E4-7633-89388AD6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Required R Packages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01953-FB4E-E153-B756-B2E129FA9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436864" cy="4098036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install.packages</a:t>
            </a:r>
            <a:r>
              <a:rPr lang="en-US" sz="2800" dirty="0"/>
              <a:t>("</a:t>
            </a:r>
            <a:r>
              <a:rPr lang="en-US" sz="2800" dirty="0" err="1"/>
              <a:t>BiocManager</a:t>
            </a:r>
            <a:r>
              <a:rPr lang="en-US" sz="2800" dirty="0"/>
              <a:t>")</a:t>
            </a:r>
          </a:p>
          <a:p>
            <a:r>
              <a:rPr lang="en-US" sz="2800" dirty="0" err="1"/>
              <a:t>install.packages</a:t>
            </a:r>
            <a:r>
              <a:rPr lang="en-US" sz="2800" dirty="0"/>
              <a:t>(c("shiny", "</a:t>
            </a:r>
            <a:r>
              <a:rPr lang="en-US" sz="2800" dirty="0" err="1"/>
              <a:t>ggVennDiagram</a:t>
            </a:r>
            <a:r>
              <a:rPr lang="en-US" sz="2800" dirty="0"/>
              <a:t>", "</a:t>
            </a:r>
            <a:r>
              <a:rPr lang="en-US" sz="2800" dirty="0" err="1"/>
              <a:t>plotly</a:t>
            </a:r>
            <a:r>
              <a:rPr lang="en-US" sz="2800" dirty="0"/>
              <a:t>", "DT", "</a:t>
            </a:r>
            <a:r>
              <a:rPr lang="en-US" sz="2800" dirty="0" err="1"/>
              <a:t>miniUI</a:t>
            </a:r>
            <a:r>
              <a:rPr lang="en-US" sz="2800" dirty="0"/>
              <a:t>", "sf", "</a:t>
            </a:r>
            <a:r>
              <a:rPr lang="en-US" sz="2800" dirty="0" err="1"/>
              <a:t>ggupset</a:t>
            </a:r>
            <a:r>
              <a:rPr lang="en-US" sz="2800" dirty="0"/>
              <a:t>", "</a:t>
            </a:r>
            <a:r>
              <a:rPr lang="en-US" sz="2800" dirty="0" err="1"/>
              <a:t>readxl</a:t>
            </a:r>
            <a:r>
              <a:rPr lang="en-US" sz="2800" dirty="0"/>
              <a:t>", "ggplot2", "</a:t>
            </a:r>
            <a:r>
              <a:rPr lang="en-US" sz="2800" dirty="0" err="1"/>
              <a:t>RColorBrewer</a:t>
            </a:r>
            <a:r>
              <a:rPr lang="en-US" sz="2800" dirty="0"/>
              <a:t>", "</a:t>
            </a:r>
            <a:r>
              <a:rPr lang="en-US" sz="2800" dirty="0" err="1"/>
              <a:t>circlize</a:t>
            </a:r>
            <a:r>
              <a:rPr lang="en-US" sz="2800" dirty="0"/>
              <a:t>", "</a:t>
            </a:r>
            <a:r>
              <a:rPr lang="en-US" sz="2800" dirty="0" err="1"/>
              <a:t>viridis</a:t>
            </a:r>
            <a:r>
              <a:rPr lang="en-US" sz="2800" dirty="0"/>
              <a:t>", "reshape2", "</a:t>
            </a:r>
            <a:r>
              <a:rPr lang="en-US" sz="2800" dirty="0" err="1"/>
              <a:t>openxlsx</a:t>
            </a:r>
            <a:r>
              <a:rPr lang="en-US" sz="2800" dirty="0"/>
              <a:t>", "</a:t>
            </a:r>
            <a:r>
              <a:rPr lang="en-US" sz="2800" dirty="0" err="1"/>
              <a:t>VennDiagram</a:t>
            </a:r>
            <a:r>
              <a:rPr lang="en-US" sz="2800" dirty="0"/>
              <a:t>", "</a:t>
            </a:r>
            <a:r>
              <a:rPr lang="en-US" sz="2800" dirty="0" err="1"/>
              <a:t>dplyr</a:t>
            </a:r>
            <a:r>
              <a:rPr lang="en-US" sz="2800" dirty="0"/>
              <a:t>", "</a:t>
            </a:r>
            <a:r>
              <a:rPr lang="en-US" sz="2800" dirty="0" err="1"/>
              <a:t>tidyr</a:t>
            </a:r>
            <a:r>
              <a:rPr lang="en-US" sz="2800" dirty="0"/>
              <a:t>", "</a:t>
            </a:r>
            <a:r>
              <a:rPr lang="en-US" sz="2800" dirty="0" err="1"/>
              <a:t>stringr</a:t>
            </a:r>
            <a:r>
              <a:rPr lang="en-US" sz="2800" dirty="0"/>
              <a:t>", "</a:t>
            </a:r>
            <a:r>
              <a:rPr lang="en-US" sz="2800" dirty="0" err="1"/>
              <a:t>matrixStats</a:t>
            </a:r>
            <a:r>
              <a:rPr lang="en-US" sz="2800" dirty="0"/>
              <a:t>"), dependencies = TRUE)</a:t>
            </a:r>
          </a:p>
          <a:p>
            <a:r>
              <a:rPr lang="en-US" sz="2800" dirty="0" err="1"/>
              <a:t>BiocManager</a:t>
            </a:r>
            <a:r>
              <a:rPr lang="en-US" sz="2800" dirty="0"/>
              <a:t>::install(c("DESeq2", "</a:t>
            </a:r>
            <a:r>
              <a:rPr lang="en-US" sz="2800" dirty="0" err="1"/>
              <a:t>RUVSeq</a:t>
            </a:r>
            <a:r>
              <a:rPr lang="en-US" sz="2800" dirty="0"/>
              <a:t>", "</a:t>
            </a:r>
            <a:r>
              <a:rPr lang="en-US" sz="2800" dirty="0" err="1"/>
              <a:t>edgeR</a:t>
            </a:r>
            <a:r>
              <a:rPr lang="en-US" sz="2800" dirty="0"/>
              <a:t>", "</a:t>
            </a:r>
            <a:r>
              <a:rPr lang="en-US" sz="2800" dirty="0" err="1"/>
              <a:t>rtracklayer</a:t>
            </a:r>
            <a:r>
              <a:rPr lang="en-US" sz="2800" dirty="0"/>
              <a:t>", "</a:t>
            </a:r>
            <a:r>
              <a:rPr lang="en-US" sz="2800" dirty="0" err="1"/>
              <a:t>ComplexHeatmap</a:t>
            </a:r>
            <a:r>
              <a:rPr lang="en-US" sz="2800" dirty="0"/>
              <a:t>", "</a:t>
            </a:r>
            <a:r>
              <a:rPr lang="en-US" sz="2800" dirty="0" err="1"/>
              <a:t>Biobase</a:t>
            </a:r>
            <a:r>
              <a:rPr lang="en-US" sz="2800" dirty="0"/>
              <a:t>", "</a:t>
            </a:r>
            <a:r>
              <a:rPr lang="en-US" sz="2800" dirty="0" err="1"/>
              <a:t>SummarizedExperiment</a:t>
            </a:r>
            <a:r>
              <a:rPr lang="en-US" sz="2800" dirty="0"/>
              <a:t>"), dependencies = TRUE, update = TRUE, ask = FALSE)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329115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C6B3-5927-F9B6-D126-0AF36E7C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ED9B-AE74-1E89-A0CB-2493146D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</a:t>
            </a:r>
            <a:r>
              <a:rPr lang="en-US" dirty="0" err="1"/>
              <a:t>DEGTrend.R</a:t>
            </a:r>
            <a:r>
              <a:rPr lang="en-US" dirty="0"/>
              <a:t> from GitHub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8DA3-DFD1-52F3-ACB5-C47A5A853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241804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will download </a:t>
            </a:r>
            <a:r>
              <a:rPr lang="en-US" b="1" dirty="0"/>
              <a:t>only the main script file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https://github.com/MichelleKoj/DEGTrend-public</a:t>
            </a:r>
            <a:endParaRPr lang="en-US" dirty="0"/>
          </a:p>
          <a:p>
            <a:endParaRPr lang="en-IL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239575-FDB1-B7D0-068A-E80EBA6B8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" y="2990796"/>
            <a:ext cx="11069053" cy="386720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675B1B7-BC78-48D9-51F8-C30AC5FB47B2}"/>
              </a:ext>
            </a:extLst>
          </p:cNvPr>
          <p:cNvSpPr/>
          <p:nvPr/>
        </p:nvSpPr>
        <p:spPr>
          <a:xfrm>
            <a:off x="938462" y="5165616"/>
            <a:ext cx="1682818" cy="61542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811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9138-A146-EE68-CC3B-78326482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7-2CE2-EEC0-CB62-15535831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Save it inside your working folder </a:t>
            </a:r>
            <a:br>
              <a:rPr lang="en-US" dirty="0"/>
            </a:br>
            <a:r>
              <a:rPr lang="en-US" dirty="0"/>
              <a:t>(for example):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BD777-FB2D-A3D5-A95C-10856054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Windows</a:t>
            </a:r>
            <a:r>
              <a:rPr lang="en-US" dirty="0"/>
              <a:t>: C:/R_workshop/</a:t>
            </a:r>
          </a:p>
          <a:p>
            <a:r>
              <a:rPr lang="en-US" b="1" dirty="0"/>
              <a:t>Mac</a:t>
            </a:r>
            <a:r>
              <a:rPr lang="en-US" dirty="0"/>
              <a:t>: ~/Desktop/</a:t>
            </a:r>
            <a:r>
              <a:rPr lang="en-US" dirty="0" err="1"/>
              <a:t>R_workshop</a:t>
            </a:r>
            <a:r>
              <a:rPr lang="en-US" dirty="0"/>
              <a:t>/</a:t>
            </a:r>
          </a:p>
          <a:p>
            <a:endParaRPr lang="en-IL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334B95-FB17-E12B-3D54-7A73C4A73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29" y="3429000"/>
            <a:ext cx="10214542" cy="344327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CF3B8C3-257C-B5D8-A9C3-6920516FBAC8}"/>
              </a:ext>
            </a:extLst>
          </p:cNvPr>
          <p:cNvSpPr/>
          <p:nvPr/>
        </p:nvSpPr>
        <p:spPr>
          <a:xfrm>
            <a:off x="9543769" y="4934069"/>
            <a:ext cx="417095" cy="4331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3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4D55-9C84-93EE-188C-095370E7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D803-1FD1-7E3B-D6BF-967AC33F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DEGTrend.R</a:t>
            </a:r>
            <a:r>
              <a:rPr lang="en-US" dirty="0"/>
              <a:t> (for example):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773B-8CFF-48B1-D6D4-C1D4462B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err="1"/>
              <a:t>setwd</a:t>
            </a:r>
            <a:r>
              <a:rPr lang="en-US" sz="3200" dirty="0"/>
              <a:t>("&lt;your full path&gt; ")</a:t>
            </a:r>
          </a:p>
          <a:p>
            <a:pPr marL="0" indent="0">
              <a:buNone/>
            </a:pPr>
            <a:r>
              <a:rPr lang="en-US" sz="3600" dirty="0"/>
              <a:t>	</a:t>
            </a:r>
            <a:r>
              <a:rPr lang="en-US" sz="3200" dirty="0"/>
              <a:t>source("</a:t>
            </a:r>
            <a:r>
              <a:rPr lang="en-US" sz="3200" dirty="0" err="1"/>
              <a:t>DEGTrend.R</a:t>
            </a:r>
            <a:r>
              <a:rPr lang="en-US" sz="3200" dirty="0"/>
              <a:t>")</a:t>
            </a:r>
          </a:p>
          <a:p>
            <a:pPr marL="0" indent="0">
              <a:buNone/>
            </a:pPr>
            <a:r>
              <a:rPr lang="en-US" sz="3200" b="1" dirty="0"/>
              <a:t>Or: </a:t>
            </a:r>
          </a:p>
          <a:p>
            <a:pPr marL="0" indent="0">
              <a:buNone/>
            </a:pPr>
            <a:r>
              <a:rPr lang="en-US" sz="3200" dirty="0"/>
              <a:t>	source("&lt;your full path&gt;/</a:t>
            </a:r>
            <a:r>
              <a:rPr lang="en-US" sz="3200" dirty="0" err="1"/>
              <a:t>DEGTrend.R</a:t>
            </a:r>
            <a:r>
              <a:rPr lang="en-US" sz="3200" dirty="0"/>
              <a:t>")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61590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6EB5-EDBA-4D09-4A50-5431603E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Output Directory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FBA96-BAF4-3985-7975-BE6DDB281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548624" cy="4226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 program first asks:</a:t>
            </a:r>
          </a:p>
          <a:p>
            <a:pPr marL="0" indent="0">
              <a:buNone/>
            </a:pPr>
            <a:r>
              <a:rPr lang="en-US" sz="2500" dirty="0"/>
              <a:t>	“Please provide a directory to save all exported files…”</a:t>
            </a:r>
            <a:endParaRPr lang="he-IL" sz="25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800" dirty="0"/>
              <a:t>This folder will contain all outputs</a:t>
            </a:r>
            <a:endParaRPr lang="he-IL" sz="2800" dirty="0"/>
          </a:p>
          <a:p>
            <a:r>
              <a:rPr lang="en-US" sz="2800" dirty="0"/>
              <a:t>The folder will be created automatically if it does not exist</a:t>
            </a:r>
            <a:endParaRPr lang="he-IL" sz="2800" dirty="0"/>
          </a:p>
          <a:p>
            <a:r>
              <a:rPr lang="en-US" sz="2800" dirty="0"/>
              <a:t>Use one folder per experiment</a:t>
            </a:r>
          </a:p>
        </p:txBody>
      </p:sp>
    </p:spTree>
    <p:extLst>
      <p:ext uri="{BB962C8B-B14F-4D97-AF65-F5344CB8AC3E}">
        <p14:creationId xmlns:p14="http://schemas.microsoft.com/office/powerpoint/2010/main" val="329527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4324-84E7-C7C1-9090-944D46FD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 Overview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C2E9-C796-C568-F14E-828410CE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40624" cy="39456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200" u="sng" dirty="0"/>
              <a:t>After selecting the output directory:</a:t>
            </a:r>
          </a:p>
          <a:p>
            <a:pPr marL="0" indent="0">
              <a:buNone/>
            </a:pPr>
            <a:r>
              <a:rPr lang="en-US" sz="3200" dirty="0"/>
              <a:t>[1] Load DEGs tables and analyze  </a:t>
            </a:r>
          </a:p>
          <a:p>
            <a:pPr marL="0" indent="0">
              <a:buNone/>
            </a:pPr>
            <a:r>
              <a:rPr lang="en-US" sz="3200" dirty="0"/>
              <a:t>[2] Process count files and perform differential expression analysis  </a:t>
            </a:r>
          </a:p>
          <a:p>
            <a:pPr marL="0" indent="0">
              <a:buNone/>
            </a:pPr>
            <a:r>
              <a:rPr lang="en-US" sz="3200" dirty="0"/>
              <a:t>[3] Load genomic data tables and analyze  </a:t>
            </a:r>
          </a:p>
          <a:p>
            <a:pPr marL="0" indent="0">
              <a:buNone/>
            </a:pPr>
            <a:r>
              <a:rPr lang="en-US" sz="3200" dirty="0"/>
              <a:t>[4] Quit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Each option corresponds to a different analysis mode. </a:t>
            </a:r>
          </a:p>
          <a:p>
            <a:pPr marL="0" indent="0">
              <a:buNone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1022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D7D3-61D7-EED9-0C47-851EFB68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Correct Option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9D7D-E81A-4DB7-C96E-5A4B8D987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979664" cy="4219956"/>
          </a:xfrm>
        </p:spPr>
        <p:txBody>
          <a:bodyPr>
            <a:normAutofit fontScale="92500" lnSpcReduction="20000"/>
          </a:bodyPr>
          <a:lstStyle/>
          <a:p>
            <a:r>
              <a:rPr lang="en-US" sz="3600" b="1" dirty="0"/>
              <a:t>Option 1</a:t>
            </a:r>
            <a:br>
              <a:rPr lang="en-US" sz="3600" dirty="0"/>
            </a:br>
            <a:r>
              <a:rPr lang="en-US" sz="3600" dirty="0"/>
              <a:t>Use when differential expression analysis was already performed.</a:t>
            </a:r>
          </a:p>
          <a:p>
            <a:r>
              <a:rPr lang="en-US" sz="3600" b="1" dirty="0"/>
              <a:t>Option 2</a:t>
            </a:r>
            <a:br>
              <a:rPr lang="en-US" sz="3600" dirty="0"/>
            </a:br>
            <a:r>
              <a:rPr lang="en-US" sz="3600" dirty="0"/>
              <a:t>Use when you have raw count data and want </a:t>
            </a:r>
            <a:r>
              <a:rPr lang="en-US" sz="3600" dirty="0" err="1"/>
              <a:t>DEGTrend</a:t>
            </a:r>
            <a:r>
              <a:rPr lang="en-US" sz="3600" dirty="0"/>
              <a:t> to perform DE analysis.</a:t>
            </a:r>
          </a:p>
          <a:p>
            <a:r>
              <a:rPr lang="en-US" sz="3600" b="1" dirty="0"/>
              <a:t>Option 3</a:t>
            </a:r>
            <a:br>
              <a:rPr lang="en-US" sz="3600" dirty="0"/>
            </a:br>
            <a:r>
              <a:rPr lang="en-US" sz="3600" dirty="0"/>
              <a:t>Use when integrating genomic differential data (e.g., methylation, ATAC, </a:t>
            </a:r>
            <a:r>
              <a:rPr lang="en-US" sz="3600" dirty="0" err="1"/>
              <a:t>ChIP</a:t>
            </a:r>
            <a:r>
              <a:rPr lang="en-US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816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91A9-D14B-8560-727B-4D7C523E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from Option 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CEDE-53DB-142C-1844-B90C240B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111744" cy="4219956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dirty="0"/>
              <a:t>Import gene count data, assign sample conditions</a:t>
            </a:r>
          </a:p>
          <a:p>
            <a:pPr lvl="1"/>
            <a:r>
              <a:rPr lang="en-US" sz="2800" dirty="0"/>
              <a:t>Remove lowly-expressed genes</a:t>
            </a:r>
          </a:p>
          <a:p>
            <a:pPr lvl="1"/>
            <a:r>
              <a:rPr lang="en-US" sz="2800" dirty="0"/>
              <a:t>Map gene IDs to gene symbols</a:t>
            </a:r>
          </a:p>
          <a:p>
            <a:pPr lvl="1"/>
            <a:r>
              <a:rPr lang="en-US" sz="2800" dirty="0"/>
              <a:t>Normalization by PCA &amp; RLE analysis </a:t>
            </a:r>
          </a:p>
          <a:p>
            <a:pPr lvl="1"/>
            <a:r>
              <a:rPr lang="en-US" sz="2800" dirty="0"/>
              <a:t>Remove unwanted variations using </a:t>
            </a:r>
            <a:r>
              <a:rPr lang="en-US" sz="2800" dirty="0" err="1"/>
              <a:t>RUVSeq</a:t>
            </a:r>
            <a:endParaRPr lang="en-US" sz="2800" dirty="0"/>
          </a:p>
          <a:p>
            <a:pPr lvl="1"/>
            <a:r>
              <a:rPr lang="en-US" sz="2800" dirty="0"/>
              <a:t>Remove outliers by hierarchical clustering</a:t>
            </a:r>
          </a:p>
          <a:p>
            <a:pPr lvl="1"/>
            <a:r>
              <a:rPr lang="en-US" sz="2800" dirty="0"/>
              <a:t>Perform differential expression analysis using DESeq2.</a:t>
            </a:r>
          </a:p>
        </p:txBody>
      </p:sp>
    </p:spTree>
    <p:extLst>
      <p:ext uri="{BB962C8B-B14F-4D97-AF65-F5344CB8AC3E}">
        <p14:creationId xmlns:p14="http://schemas.microsoft.com/office/powerpoint/2010/main" val="414247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B8CF-477B-B75B-4E13-C87B2A22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43DC-4B1E-2AA2-2909-8A57B7D0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data and perform differential expression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852D2-94E2-3C1E-79E4-001B57FE8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568944" cy="40167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You will choose:</a:t>
            </a:r>
          </a:p>
          <a:p>
            <a:pPr marL="0" indent="0">
              <a:buNone/>
            </a:pPr>
            <a:r>
              <a:rPr lang="en-US" sz="2400" b="1" dirty="0"/>
              <a:t>[1]</a:t>
            </a:r>
            <a:r>
              <a:rPr lang="en-US" sz="2400" dirty="0"/>
              <a:t> Process count files and perform differential expression analysis</a:t>
            </a:r>
          </a:p>
          <a:p>
            <a:pPr lvl="1"/>
            <a:r>
              <a:rPr lang="en-US" sz="2000" dirty="0"/>
              <a:t>You can provide either a </a:t>
            </a:r>
            <a:r>
              <a:rPr lang="en-US" sz="2000" b="1" dirty="0"/>
              <a:t>count matrix</a:t>
            </a:r>
            <a:r>
              <a:rPr lang="en-US" sz="2000" dirty="0"/>
              <a:t> file or a </a:t>
            </a:r>
            <a:r>
              <a:rPr lang="en-US" sz="2000" b="1" dirty="0"/>
              <a:t>folder of count files</a:t>
            </a:r>
            <a:r>
              <a:rPr lang="en-US" sz="2000" dirty="0"/>
              <a:t>, plus a </a:t>
            </a:r>
            <a:r>
              <a:rPr lang="en-US" sz="2000" b="1" dirty="0"/>
              <a:t>sample info table</a:t>
            </a:r>
            <a:r>
              <a:rPr lang="en-US" sz="2000" dirty="0"/>
              <a:t> if you have one.</a:t>
            </a:r>
          </a:p>
          <a:p>
            <a:pPr marL="0" indent="0">
              <a:buNone/>
            </a:pPr>
            <a:r>
              <a:rPr lang="en-US" sz="2400" b="1" dirty="0"/>
              <a:t>[2]</a:t>
            </a:r>
            <a:r>
              <a:rPr lang="en-US" sz="2400" dirty="0"/>
              <a:t> Perform differential expression analysis without processing count files</a:t>
            </a:r>
          </a:p>
          <a:p>
            <a:pPr lvl="1"/>
            <a:r>
              <a:rPr lang="en-US" sz="2200" dirty="0"/>
              <a:t>You provide a </a:t>
            </a:r>
            <a:r>
              <a:rPr lang="en-US" sz="2200" b="1" dirty="0"/>
              <a:t>count matrix</a:t>
            </a:r>
            <a:r>
              <a:rPr lang="en-US" sz="2200" dirty="0"/>
              <a:t> and a </a:t>
            </a:r>
            <a:r>
              <a:rPr lang="en-US" sz="2200" b="1" dirty="0"/>
              <a:t>sample info table</a:t>
            </a:r>
            <a:r>
              <a:rPr lang="en-US" sz="2200" dirty="0"/>
              <a:t> (no raw count files).</a:t>
            </a:r>
          </a:p>
          <a:p>
            <a:endParaRPr lang="en-US" sz="2400" dirty="0"/>
          </a:p>
          <a:p>
            <a:r>
              <a:rPr lang="en-US" sz="2400" dirty="0"/>
              <a:t>The program will run the analysis (e.g. DESeq2-style) and then you can export results and generate plots.</a:t>
            </a:r>
          </a:p>
        </p:txBody>
      </p:sp>
    </p:spTree>
    <p:extLst>
      <p:ext uri="{BB962C8B-B14F-4D97-AF65-F5344CB8AC3E}">
        <p14:creationId xmlns:p14="http://schemas.microsoft.com/office/powerpoint/2010/main" val="219698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E97E-C783-A0E1-9595-7778825B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Input Requirements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63B4-3743-511E-D347-0D83290FF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68880"/>
            <a:ext cx="8132064" cy="3271147"/>
          </a:xfrm>
        </p:spPr>
        <p:txBody>
          <a:bodyPr>
            <a:normAutofit/>
          </a:bodyPr>
          <a:lstStyle/>
          <a:p>
            <a:r>
              <a:rPr lang="en-US" sz="2000" dirty="0"/>
              <a:t>A count matrix</a:t>
            </a:r>
          </a:p>
          <a:p>
            <a:r>
              <a:rPr lang="en-US" sz="2000" dirty="0"/>
              <a:t>A sample information table</a:t>
            </a:r>
          </a:p>
          <a:p>
            <a:r>
              <a:rPr lang="en-US" sz="2000" dirty="0"/>
              <a:t>Annotation File (Optional): Used for converting gene IDs to gene names.</a:t>
            </a:r>
            <a:br>
              <a:rPr lang="en-US" sz="2000" dirty="0"/>
            </a:br>
            <a:br>
              <a:rPr lang="en-US" sz="2000" dirty="0"/>
            </a:br>
            <a:endParaRPr lang="en-IL" sz="2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DDFBB6-0BEB-4E61-604B-A31A48735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3857617"/>
            <a:ext cx="5923279" cy="299205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D68991-6159-05D3-3BED-5144F1EDF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196" y="3865943"/>
            <a:ext cx="2534674" cy="299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5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1EAF-79B8-A384-E95A-310B3D58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Work – Option 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7A64-BCB5-5C7E-F6F1-7C112CAD9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640064" cy="413867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Run </a:t>
            </a:r>
            <a:r>
              <a:rPr lang="en-US" sz="2000" dirty="0" err="1"/>
              <a:t>DEGTrend.R</a:t>
            </a:r>
            <a:r>
              <a:rPr lang="en-US" sz="2000" dirty="0"/>
              <a:t> (source(".../</a:t>
            </a:r>
            <a:r>
              <a:rPr lang="en-US" sz="2000" dirty="0" err="1"/>
              <a:t>DEGTrend.R</a:t>
            </a:r>
            <a:r>
              <a:rPr lang="en-US" sz="2000" dirty="0"/>
              <a:t>") in R)</a:t>
            </a:r>
            <a:endParaRPr lang="he-IL" sz="2000" dirty="0"/>
          </a:p>
          <a:p>
            <a:r>
              <a:rPr lang="en-US" sz="2000" dirty="0"/>
              <a:t>Enter the output folder path when asked</a:t>
            </a:r>
            <a:endParaRPr lang="he-IL" sz="2000" dirty="0"/>
          </a:p>
          <a:p>
            <a:r>
              <a:rPr lang="en-US" sz="2000" dirty="0"/>
              <a:t>Select:</a:t>
            </a:r>
            <a:r>
              <a:rPr lang="he-IL" sz="2000" dirty="0"/>
              <a:t> </a:t>
            </a:r>
            <a:r>
              <a:rPr lang="en-US" sz="2000" dirty="0"/>
              <a:t>[2] Process count files and perform differential expression analysis</a:t>
            </a:r>
            <a:endParaRPr lang="he-IL" sz="2000" dirty="0"/>
          </a:p>
          <a:p>
            <a:r>
              <a:rPr lang="en-US" sz="2000" dirty="0"/>
              <a:t>And then: [1] Process count files and perform differential expression analysis</a:t>
            </a:r>
          </a:p>
          <a:p>
            <a:r>
              <a:rPr lang="en-US" sz="2000" dirty="0"/>
              <a:t>Follow the on-screen prompts</a:t>
            </a:r>
          </a:p>
          <a:p>
            <a:r>
              <a:rPr lang="en-US" sz="2000" dirty="0"/>
              <a:t>After completion: find your results in the output folder and its subfolders</a:t>
            </a:r>
          </a:p>
          <a:p>
            <a:pPr lvl="1"/>
            <a:r>
              <a:rPr lang="en-US" sz="2000" dirty="0"/>
              <a:t>results/</a:t>
            </a:r>
          </a:p>
          <a:p>
            <a:pPr lvl="1"/>
            <a:r>
              <a:rPr lang="en-US" sz="2000" dirty="0"/>
              <a:t>PCA_RLE/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If you need help at any point, raise your hand and I will come to you.</a:t>
            </a: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064610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C960-9BEA-B349-79CD-6F88CA27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 from Option 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6677-0CD2-BC4B-A8E2-F4E2BA2DD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670544" cy="42910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After DE analysis, </a:t>
            </a:r>
            <a:r>
              <a:rPr lang="en-US" sz="2800" dirty="0" err="1"/>
              <a:t>DEGTrend</a:t>
            </a:r>
            <a:r>
              <a:rPr lang="en-US" sz="2800" dirty="0"/>
              <a:t> generates:</a:t>
            </a:r>
          </a:p>
          <a:p>
            <a:r>
              <a:rPr lang="en-US" sz="2800" dirty="0"/>
              <a:t>PCA and RLE plots (both in </a:t>
            </a:r>
            <a:r>
              <a:rPr lang="en-US" sz="2800" dirty="0" err="1"/>
              <a:t>svg</a:t>
            </a:r>
            <a:r>
              <a:rPr lang="en-US" sz="2800" dirty="0"/>
              <a:t> &amp; </a:t>
            </a:r>
            <a:r>
              <a:rPr lang="en-US" sz="2800" dirty="0" err="1"/>
              <a:t>png</a:t>
            </a:r>
            <a:r>
              <a:rPr lang="en-US" sz="2800" dirty="0"/>
              <a:t> formats)</a:t>
            </a:r>
          </a:p>
          <a:p>
            <a:r>
              <a:rPr lang="en-US" sz="2800" dirty="0"/>
              <a:t>hierarchical clustering plot</a:t>
            </a:r>
          </a:p>
          <a:p>
            <a:r>
              <a:rPr lang="en-US" sz="2800" dirty="0"/>
              <a:t>normalized counts (one by RUV if was done, and one by DESEQ2)</a:t>
            </a:r>
          </a:p>
          <a:p>
            <a:r>
              <a:rPr lang="en-US" sz="2800" dirty="0"/>
              <a:t>DEG tables (one for each comparison)</a:t>
            </a:r>
          </a:p>
          <a:p>
            <a:r>
              <a:rPr lang="en-US" sz="2800" dirty="0"/>
              <a:t>Two consolidated files with pairwise comparisons:</a:t>
            </a:r>
          </a:p>
          <a:p>
            <a:pPr lvl="1"/>
            <a:r>
              <a:rPr lang="en-US" sz="2400" dirty="0"/>
              <a:t>"all_DEG_results.csv“ (</a:t>
            </a:r>
            <a:r>
              <a:rPr lang="en-US" sz="2400" dirty="0">
                <a:sym typeface="Wingdings" panose="05000000000000000000" pitchFamily="2" charset="2"/>
              </a:rPr>
              <a:t> can be used in option 1)</a:t>
            </a:r>
            <a:endParaRPr lang="en-US" sz="2400" dirty="0"/>
          </a:p>
          <a:p>
            <a:pPr lvl="1"/>
            <a:r>
              <a:rPr lang="en-US" sz="2400" dirty="0"/>
              <a:t>"mega_results.xlsx"</a:t>
            </a:r>
            <a:br>
              <a:rPr lang="en-US" sz="2400" dirty="0"/>
            </a:br>
            <a:endParaRPr lang="en-US" sz="2400" dirty="0"/>
          </a:p>
          <a:p>
            <a:pPr lv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45930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B50E-27EA-C11E-111A-CB90F385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Comparisons to Trends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5D13-687F-6285-4FFB-B22A16187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81264" cy="3559556"/>
          </a:xfrm>
        </p:spPr>
        <p:txBody>
          <a:bodyPr>
            <a:normAutofit lnSpcReduction="10000"/>
          </a:bodyPr>
          <a:lstStyle/>
          <a:p>
            <a:pPr marL="0" lvl="1" indent="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2800" dirty="0"/>
              <a:t>Now we can: </a:t>
            </a:r>
          </a:p>
          <a:p>
            <a:pPr marL="342900" lvl="1" indent="-3429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dirty="0"/>
              <a:t>Identify shared vs. unique DEGs across conditions</a:t>
            </a:r>
            <a:endParaRPr lang="en-IL" sz="2800" dirty="0"/>
          </a:p>
          <a:p>
            <a:pPr marL="342900" lvl="1" indent="-3429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dirty="0"/>
              <a:t>Cluster genes by directional change across conditions</a:t>
            </a:r>
            <a:endParaRPr lang="en-US" sz="3600" dirty="0"/>
          </a:p>
          <a:p>
            <a:pPr marL="0" lvl="1" indent="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sz="2800" dirty="0"/>
              <a:t>By:</a:t>
            </a:r>
          </a:p>
          <a:p>
            <a:pPr marL="342900" lvl="1" indent="-3429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dirty="0"/>
              <a:t>Heatmaps of expression for selected overlaps</a:t>
            </a:r>
            <a:endParaRPr lang="en-IL" sz="2800" dirty="0"/>
          </a:p>
          <a:p>
            <a:pPr marL="342900" lvl="1" indent="-3429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dirty="0"/>
              <a:t>Venn diagrams and Upsets</a:t>
            </a:r>
          </a:p>
          <a:p>
            <a:pPr marL="342900" lvl="1" indent="-3429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2800" dirty="0"/>
              <a:t>Trend plots for comparisons and target genes. </a:t>
            </a:r>
          </a:p>
          <a:p>
            <a:pPr marL="0" lvl="1" indent="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5843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AE69-40A1-8F1D-5168-63B06B5F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Load DEGs tables and analyze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B2AF6-F941-B09B-EAEA-F3C636294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74304" cy="42199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Use this when you already have:</a:t>
            </a:r>
          </a:p>
          <a:p>
            <a:r>
              <a:rPr lang="en-US" sz="2800" dirty="0"/>
              <a:t>A DEGs file</a:t>
            </a:r>
          </a:p>
          <a:p>
            <a:pPr lvl="1"/>
            <a:r>
              <a:rPr lang="en-US" sz="2600" u="sng" dirty="0"/>
              <a:t>Required columns</a:t>
            </a:r>
            <a:r>
              <a:rPr lang="en-US" sz="2600" dirty="0"/>
              <a:t>:</a:t>
            </a:r>
          </a:p>
          <a:p>
            <a:pPr marL="228600" lvl="1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baseMean</a:t>
            </a:r>
            <a:r>
              <a:rPr lang="en-US" sz="2200" dirty="0"/>
              <a:t>, log2FoldChange, </a:t>
            </a:r>
            <a:r>
              <a:rPr lang="en-US" sz="2200" dirty="0" err="1"/>
              <a:t>lfcSE</a:t>
            </a:r>
            <a:r>
              <a:rPr lang="en-US" sz="2200" dirty="0"/>
              <a:t>, stat, </a:t>
            </a:r>
            <a:r>
              <a:rPr lang="en-US" sz="2200" dirty="0" err="1"/>
              <a:t>pvalue</a:t>
            </a:r>
            <a:r>
              <a:rPr lang="en-US" sz="2200" dirty="0"/>
              <a:t>, </a:t>
            </a:r>
            <a:r>
              <a:rPr lang="en-US" sz="2200" dirty="0" err="1"/>
              <a:t>padj</a:t>
            </a:r>
            <a:r>
              <a:rPr lang="en-US" sz="2200" dirty="0"/>
              <a:t>, comparison, Gene</a:t>
            </a:r>
          </a:p>
          <a:p>
            <a:pPr lvl="1"/>
            <a:r>
              <a:rPr lang="en-US" sz="2600" dirty="0"/>
              <a:t>The Gene column should contain gene names/IDs.</a:t>
            </a:r>
          </a:p>
          <a:p>
            <a:pPr lvl="1"/>
            <a:r>
              <a:rPr lang="en-US" sz="2600" dirty="0"/>
              <a:t>comparison should describe the comparison:</a:t>
            </a:r>
          </a:p>
          <a:p>
            <a:pPr marL="228600" lvl="1" indent="0">
              <a:buNone/>
            </a:pPr>
            <a:r>
              <a:rPr lang="en-US" sz="2600" dirty="0"/>
              <a:t>	“</a:t>
            </a:r>
            <a:r>
              <a:rPr lang="en-US" sz="2600" dirty="0" err="1"/>
              <a:t>ConditionA</a:t>
            </a:r>
            <a:r>
              <a:rPr lang="en-US" sz="2600" dirty="0"/>
              <a:t> vs </a:t>
            </a:r>
            <a:r>
              <a:rPr lang="en-US" sz="2600" dirty="0" err="1"/>
              <a:t>ConditionB</a:t>
            </a:r>
            <a:r>
              <a:rPr lang="en-US" sz="2600" dirty="0"/>
              <a:t>”</a:t>
            </a:r>
          </a:p>
          <a:p>
            <a:r>
              <a:rPr lang="en-US" sz="2800" dirty="0"/>
              <a:t>A counts file (raw or normalized)</a:t>
            </a:r>
          </a:p>
          <a:p>
            <a:r>
              <a:rPr lang="en-US" sz="2800" dirty="0"/>
              <a:t>A </a:t>
            </a:r>
            <a:r>
              <a:rPr lang="en-US" sz="2800" dirty="0" err="1"/>
              <a:t>coldata</a:t>
            </a:r>
            <a:r>
              <a:rPr lang="en-US" sz="2800" dirty="0"/>
              <a:t> file (sample info)</a:t>
            </a:r>
          </a:p>
        </p:txBody>
      </p:sp>
    </p:spTree>
    <p:extLst>
      <p:ext uri="{BB962C8B-B14F-4D97-AF65-F5344CB8AC3E}">
        <p14:creationId xmlns:p14="http://schemas.microsoft.com/office/powerpoint/2010/main" val="3521350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5D6F-FD75-43C5-101F-74EB0A66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DEGs tables and analyze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BFFEF-5E7E-2A3B-7B78-BC85F5404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33664" cy="4037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After loading</a:t>
            </a:r>
            <a:r>
              <a:rPr lang="he-IL" sz="3200" dirty="0"/>
              <a:t> </a:t>
            </a:r>
            <a:r>
              <a:rPr lang="en-US" sz="3200" dirty="0"/>
              <a:t>the files, you will choose between:</a:t>
            </a:r>
          </a:p>
          <a:p>
            <a:r>
              <a:rPr lang="en-US" sz="3200" dirty="0"/>
              <a:t>Automatic analysis</a:t>
            </a:r>
            <a:endParaRPr lang="he-IL" sz="3200" dirty="0"/>
          </a:p>
          <a:p>
            <a:r>
              <a:rPr lang="en-US" sz="3200" dirty="0"/>
              <a:t>Manual analysis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Both use the same DEG results.</a:t>
            </a:r>
            <a:br>
              <a:rPr lang="en-US" sz="3200" dirty="0"/>
            </a:br>
            <a:r>
              <a:rPr lang="en-US" sz="3200" dirty="0"/>
              <a:t>The difference is in filtering control.</a:t>
            </a:r>
          </a:p>
          <a:p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892932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36A1-50BC-2A72-66BB-9EF4468C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ANALYSIS MODE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78EF-B889-D33E-FC36-6C6146971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33664" cy="4219956"/>
          </a:xfrm>
        </p:spPr>
        <p:txBody>
          <a:bodyPr>
            <a:normAutofit/>
          </a:bodyPr>
          <a:lstStyle/>
          <a:p>
            <a:r>
              <a:rPr lang="en-US" sz="2200" dirty="0"/>
              <a:t>The program will:</a:t>
            </a:r>
          </a:p>
          <a:p>
            <a:pPr lvl="1"/>
            <a:r>
              <a:rPr lang="en-US" sz="2200" dirty="0"/>
              <a:t>Apply default </a:t>
            </a:r>
            <a:r>
              <a:rPr lang="en-US" sz="2200" dirty="0" err="1"/>
              <a:t>padj</a:t>
            </a:r>
            <a:r>
              <a:rPr lang="en-US" sz="2200" dirty="0"/>
              <a:t> threshold (0.05) </a:t>
            </a:r>
          </a:p>
          <a:p>
            <a:pPr lvl="1"/>
            <a:r>
              <a:rPr lang="en-US" sz="2200" dirty="0"/>
              <a:t>Use predefined direction logic</a:t>
            </a:r>
          </a:p>
          <a:p>
            <a:r>
              <a:rPr lang="en-US" sz="2200" dirty="0"/>
              <a:t>Generate:</a:t>
            </a:r>
          </a:p>
          <a:p>
            <a:pPr lvl="1"/>
            <a:r>
              <a:rPr lang="en-US" sz="2200" dirty="0"/>
              <a:t>Heatmaps (by scaling: log2, z-score; by type: combined, up/down)</a:t>
            </a:r>
          </a:p>
          <a:p>
            <a:pPr lvl="1"/>
            <a:r>
              <a:rPr lang="en-US" sz="2200" dirty="0"/>
              <a:t>Venn diagrams and </a:t>
            </a:r>
            <a:r>
              <a:rPr lang="en-US" sz="2200" dirty="0" err="1"/>
              <a:t>UpSet</a:t>
            </a:r>
            <a:r>
              <a:rPr lang="en-US" sz="2200" dirty="0"/>
              <a:t> plots (PNG, SVG) and count/gene tables</a:t>
            </a:r>
          </a:p>
          <a:p>
            <a:pPr lvl="1"/>
            <a:r>
              <a:rPr lang="en-US" sz="2200" dirty="0"/>
              <a:t>Trending pattern plots and data </a:t>
            </a:r>
            <a:endParaRPr lang="en-IL" sz="2200" dirty="0"/>
          </a:p>
        </p:txBody>
      </p:sp>
    </p:spTree>
    <p:extLst>
      <p:ext uri="{BB962C8B-B14F-4D97-AF65-F5344CB8AC3E}">
        <p14:creationId xmlns:p14="http://schemas.microsoft.com/office/powerpoint/2010/main" val="2851730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A1A3-DB08-51E6-4B71-5EC95DFB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ANALYSIS MODE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C1BE2-C362-4C89-91BD-9B924C5C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96160"/>
            <a:ext cx="8640064" cy="4561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Manual mode = same inputs and same core logic, but </a:t>
            </a:r>
            <a:r>
              <a:rPr lang="en-US" b="1" dirty="0"/>
              <a:t>you choose thresholds + exactly what to generate</a:t>
            </a:r>
            <a:r>
              <a:rPr lang="en-US" dirty="0"/>
              <a:t> (instead of the predefined defaults).</a:t>
            </a:r>
          </a:p>
          <a:p>
            <a:pPr marL="0" indent="0">
              <a:buNone/>
            </a:pPr>
            <a:r>
              <a:rPr lang="en-US" u="sng" dirty="0"/>
              <a:t>Manual menu includes:</a:t>
            </a:r>
          </a:p>
          <a:p>
            <a:r>
              <a:rPr lang="en-US" dirty="0"/>
              <a:t>Check genes of interest</a:t>
            </a:r>
          </a:p>
          <a:p>
            <a:pPr lvl="1"/>
            <a:r>
              <a:rPr lang="en-US" dirty="0"/>
              <a:t>Input: comma-separated gene list or a file path (csv/</a:t>
            </a:r>
            <a:r>
              <a:rPr lang="en-US" dirty="0" err="1"/>
              <a:t>tsv</a:t>
            </a:r>
            <a:r>
              <a:rPr lang="en-US" dirty="0"/>
              <a:t>/txt/xlsx; first column is used)</a:t>
            </a:r>
          </a:p>
          <a:p>
            <a:pPr lvl="1"/>
            <a:r>
              <a:rPr lang="en-US" dirty="0"/>
              <a:t>Output: gene_search_summary.csv + per-gene plots by comparison</a:t>
            </a:r>
          </a:p>
          <a:p>
            <a:r>
              <a:rPr lang="en-US" dirty="0"/>
              <a:t>Generate heatmaps (default / customized): you choose grouping column from </a:t>
            </a:r>
            <a:r>
              <a:rPr lang="en-US" dirty="0" err="1"/>
              <a:t>coldata</a:t>
            </a:r>
            <a:r>
              <a:rPr lang="en-US" dirty="0"/>
              <a:t>, scaling (log2 or z-score), color palettes, </a:t>
            </a:r>
            <a:r>
              <a:rPr lang="en-US" dirty="0" err="1"/>
              <a:t>padj</a:t>
            </a:r>
            <a:r>
              <a:rPr lang="en-US" dirty="0"/>
              <a:t> threshold and the comparisons: all (default) or selected intersections (custom)</a:t>
            </a:r>
          </a:p>
          <a:p>
            <a:r>
              <a:rPr lang="en-US" dirty="0"/>
              <a:t>Create Venn + </a:t>
            </a:r>
            <a:r>
              <a:rPr lang="en-US" dirty="0" err="1"/>
              <a:t>UpSet</a:t>
            </a:r>
            <a:r>
              <a:rPr lang="en-US" dirty="0"/>
              <a:t>: you choose split up/down (or not), </a:t>
            </a:r>
            <a:r>
              <a:rPr lang="en-US" dirty="0" err="1"/>
              <a:t>padj</a:t>
            </a:r>
            <a:r>
              <a:rPr lang="en-US" dirty="0"/>
              <a:t> threshold, which comparisons to include</a:t>
            </a:r>
          </a:p>
          <a:p>
            <a:r>
              <a:rPr lang="en-US" dirty="0"/>
              <a:t>Generate trend plots: you choose default patterns or split up/down (or not), </a:t>
            </a:r>
            <a:r>
              <a:rPr lang="en-US" dirty="0" err="1"/>
              <a:t>padj</a:t>
            </a:r>
            <a:r>
              <a:rPr lang="en-US" dirty="0"/>
              <a:t> threshold, which comparisons to include + genes list (manual selection)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23785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2702-9FB3-B05B-3C13-E6982691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Work – Option 1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B3BB-AB84-F892-AE7A-0D7691A39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0" y="2235200"/>
            <a:ext cx="8646160" cy="4754880"/>
          </a:xfrm>
        </p:spPr>
        <p:txBody>
          <a:bodyPr>
            <a:normAutofit/>
          </a:bodyPr>
          <a:lstStyle/>
          <a:p>
            <a:r>
              <a:rPr lang="en-US" sz="2000" dirty="0"/>
              <a:t>Run </a:t>
            </a:r>
            <a:r>
              <a:rPr lang="en-US" sz="2000" dirty="0" err="1"/>
              <a:t>DEGTrend.R</a:t>
            </a:r>
            <a:r>
              <a:rPr lang="en-US" sz="2000" dirty="0"/>
              <a:t> (source(".../</a:t>
            </a:r>
            <a:r>
              <a:rPr lang="en-US" sz="2000" dirty="0" err="1"/>
              <a:t>DEGTrend.R</a:t>
            </a:r>
            <a:r>
              <a:rPr lang="en-US" sz="2000" dirty="0"/>
              <a:t>") in R)</a:t>
            </a:r>
            <a:endParaRPr lang="he-IL" sz="2000" dirty="0"/>
          </a:p>
          <a:p>
            <a:r>
              <a:rPr lang="en-US" sz="2000" dirty="0"/>
              <a:t>Enter the output folder path when asked</a:t>
            </a:r>
            <a:endParaRPr lang="he-IL" sz="2000" dirty="0"/>
          </a:p>
          <a:p>
            <a:r>
              <a:rPr lang="en-US" sz="2000" dirty="0"/>
              <a:t>Select: [1] Load DEGs tables and analyze </a:t>
            </a:r>
            <a:endParaRPr lang="he-IL" sz="2000" dirty="0"/>
          </a:p>
          <a:p>
            <a:r>
              <a:rPr lang="en-US" sz="2000" dirty="0"/>
              <a:t>Load:</a:t>
            </a:r>
          </a:p>
          <a:p>
            <a:pPr lvl="1"/>
            <a:r>
              <a:rPr lang="en-US" sz="2000" dirty="0"/>
              <a:t>DEGs table (must include at least: log2FoldChange, </a:t>
            </a:r>
            <a:r>
              <a:rPr lang="en-US" sz="2000" dirty="0" err="1"/>
              <a:t>padj</a:t>
            </a:r>
            <a:r>
              <a:rPr lang="en-US" sz="2000" dirty="0"/>
              <a:t>, comparison, Gene)</a:t>
            </a:r>
          </a:p>
          <a:p>
            <a:pPr lvl="1"/>
            <a:r>
              <a:rPr lang="en-US" sz="2000" dirty="0"/>
              <a:t>counts matrix (raw or normalized)</a:t>
            </a:r>
          </a:p>
          <a:p>
            <a:pPr lvl="1"/>
            <a:r>
              <a:rPr lang="en-US" sz="2000" dirty="0" err="1"/>
              <a:t>coldata</a:t>
            </a:r>
            <a:r>
              <a:rPr lang="en-US" sz="2000" dirty="0"/>
              <a:t> (sample info)</a:t>
            </a:r>
          </a:p>
          <a:p>
            <a:r>
              <a:rPr lang="en-US" sz="2000" dirty="0"/>
              <a:t>Choose </a:t>
            </a:r>
            <a:r>
              <a:rPr lang="en-US" sz="2000" b="1" dirty="0"/>
              <a:t>Manual analysis</a:t>
            </a:r>
          </a:p>
          <a:p>
            <a:r>
              <a:rPr lang="en-US" sz="2000" dirty="0"/>
              <a:t>Try search 2–3 genes you care about, Venn and </a:t>
            </a:r>
            <a:r>
              <a:rPr lang="en-US" sz="2000" dirty="0" err="1"/>
              <a:t>UpSet</a:t>
            </a:r>
            <a:r>
              <a:rPr lang="en-US" sz="2000" dirty="0"/>
              <a:t>, Heatmap and Trend plots for two comparison sets</a:t>
            </a:r>
          </a:p>
          <a:p>
            <a:r>
              <a:rPr lang="en-US" sz="2000" b="1" dirty="0"/>
              <a:t>If you need help at any point, raise your hand and I will come to you.</a:t>
            </a:r>
            <a:endParaRPr lang="en-IL" sz="2000" b="1" dirty="0"/>
          </a:p>
          <a:p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1252001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7EA3-4065-6ABD-465A-542DDEE4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REVIEW: OPTION 3 (Genomic differential data)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6BD68-A787-99BC-E348-9B32DBF20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26640"/>
            <a:ext cx="8518144" cy="460248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Integration of RNA-seq with different omics data types (ATAC/</a:t>
            </a:r>
            <a:r>
              <a:rPr lang="en-US" sz="2400" dirty="0" err="1"/>
              <a:t>ChIP</a:t>
            </a:r>
            <a:r>
              <a:rPr lang="en-US" sz="2400" dirty="0"/>
              <a:t>/methylation…)</a:t>
            </a:r>
          </a:p>
          <a:p>
            <a:r>
              <a:rPr lang="en-US" sz="2400" dirty="0"/>
              <a:t>What Option 3 asks for first:</a:t>
            </a:r>
          </a:p>
          <a:p>
            <a:pPr lvl="1"/>
            <a:r>
              <a:rPr lang="en-US" sz="2000" dirty="0"/>
              <a:t>Path to genomic results file (csv/</a:t>
            </a:r>
            <a:r>
              <a:rPr lang="en-US" sz="2000" dirty="0" err="1"/>
              <a:t>tsv</a:t>
            </a:r>
            <a:r>
              <a:rPr lang="en-US" sz="2000" dirty="0"/>
              <a:t>/txt/xlsx)</a:t>
            </a:r>
          </a:p>
          <a:p>
            <a:pPr lvl="1"/>
            <a:r>
              <a:rPr lang="en-US" sz="2000" dirty="0"/>
              <a:t>Required columns (minimum):log2FoldChange, </a:t>
            </a:r>
            <a:r>
              <a:rPr lang="en-US" sz="2000" dirty="0" err="1"/>
              <a:t>padj</a:t>
            </a:r>
            <a:r>
              <a:rPr lang="en-US" sz="2000" dirty="0"/>
              <a:t>, comparison, Gene</a:t>
            </a:r>
          </a:p>
          <a:p>
            <a:r>
              <a:rPr lang="en-US" sz="2400" dirty="0"/>
              <a:t>Option 3 features includes:</a:t>
            </a:r>
          </a:p>
          <a:p>
            <a:pPr lvl="1"/>
            <a:r>
              <a:rPr lang="en-US" sz="2000" dirty="0"/>
              <a:t>Genes of interest (same behavior: list or file; outputs summary CSV + plots)</a:t>
            </a:r>
          </a:p>
          <a:p>
            <a:pPr lvl="1"/>
            <a:r>
              <a:rPr lang="en-US" sz="2000" dirty="0"/>
              <a:t>Heatmap (threshold-based)</a:t>
            </a:r>
          </a:p>
          <a:p>
            <a:pPr lvl="1"/>
            <a:r>
              <a:rPr lang="en-US" sz="2000" dirty="0"/>
              <a:t>Venn diagrams and Upsets</a:t>
            </a:r>
          </a:p>
          <a:p>
            <a:pPr marL="0" indent="0">
              <a:buNone/>
            </a:pPr>
            <a:r>
              <a:rPr lang="en-US" sz="2400" dirty="0"/>
              <a:t>Option 3 does not use counts/</a:t>
            </a:r>
            <a:r>
              <a:rPr lang="en-US" sz="2400" dirty="0" err="1"/>
              <a:t>coldata</a:t>
            </a:r>
            <a:r>
              <a:rPr lang="en-US" sz="2400" dirty="0"/>
              <a:t>-based expression grouping like Option 1/2 -it’s driven by the genomic results table.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750700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DC6F-516E-4126-8456-403E14C6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enomic cup&#10;&#10;AI-generated content may be incorrect.">
            <a:extLst>
              <a:ext uri="{FF2B5EF4-FFF2-40B4-BE49-F238E27FC236}">
                <a16:creationId xmlns:a16="http://schemas.microsoft.com/office/drawing/2014/main" id="{ED12CFE4-E340-8709-3DD4-7C1F58161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6" r="39643"/>
          <a:stretch>
            <a:fillRect/>
          </a:stretch>
        </p:blipFill>
        <p:spPr>
          <a:xfrm>
            <a:off x="9601200" y="326006"/>
            <a:ext cx="2590800" cy="65319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E19091-F77F-B83D-7E27-7BAF1F0B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3- example running</a:t>
            </a:r>
            <a:endParaRPr lang="en-IL" dirty="0"/>
          </a:p>
        </p:txBody>
      </p:sp>
      <p:pic>
        <p:nvPicPr>
          <p:cNvPr id="5" name="Picture 4" descr="A diagram of a circle&#10;&#10;AI-generated content may be incorrect.">
            <a:extLst>
              <a:ext uri="{FF2B5EF4-FFF2-40B4-BE49-F238E27FC236}">
                <a16:creationId xmlns:a16="http://schemas.microsoft.com/office/drawing/2014/main" id="{E221C19B-8D29-68C6-2A58-C4A159B11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8" t="26544" r="19862" b="27259"/>
          <a:stretch>
            <a:fillRect/>
          </a:stretch>
        </p:blipFill>
        <p:spPr>
          <a:xfrm>
            <a:off x="1" y="3440244"/>
            <a:ext cx="4266606" cy="3417756"/>
          </a:xfrm>
          <a:prstGeom prst="rect">
            <a:avLst/>
          </a:prstGeom>
        </p:spPr>
      </p:pic>
      <p:pic>
        <p:nvPicPr>
          <p:cNvPr id="7" name="Picture 6" descr="A graph with a black background&#10;&#10;AI-generated content may be incorrect.">
            <a:extLst>
              <a:ext uri="{FF2B5EF4-FFF2-40B4-BE49-F238E27FC236}">
                <a16:creationId xmlns:a16="http://schemas.microsoft.com/office/drawing/2014/main" id="{A099F8C8-98AC-4575-FA7C-57D6BD899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4" t="9234" r="8454" b="16755"/>
          <a:stretch>
            <a:fillRect/>
          </a:stretch>
        </p:blipFill>
        <p:spPr>
          <a:xfrm>
            <a:off x="4266607" y="3440244"/>
            <a:ext cx="6148346" cy="341775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59081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C6D4-1B37-CAA5-7193-4EFC2CE2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3- example running</a:t>
            </a:r>
            <a:endParaRPr lang="en-IL" dirty="0"/>
          </a:p>
        </p:txBody>
      </p:sp>
      <p:pic>
        <p:nvPicPr>
          <p:cNvPr id="9" name="Picture 8" descr="A graph with a line and a star&#10;&#10;AI-generated content may be incorrect.">
            <a:extLst>
              <a:ext uri="{FF2B5EF4-FFF2-40B4-BE49-F238E27FC236}">
                <a16:creationId xmlns:a16="http://schemas.microsoft.com/office/drawing/2014/main" id="{825F1C4C-F613-3F31-0D01-022B9FD17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75" y="2932677"/>
            <a:ext cx="2606045" cy="3621031"/>
          </a:xfrm>
          <a:prstGeom prst="rect">
            <a:avLst/>
          </a:prstGeom>
        </p:spPr>
      </p:pic>
      <p:pic>
        <p:nvPicPr>
          <p:cNvPr id="11" name="Picture 10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9BA70C67-CBDC-A736-AC65-15B3C2808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297" y="2932677"/>
            <a:ext cx="2606045" cy="3621031"/>
          </a:xfrm>
          <a:prstGeom prst="rect">
            <a:avLst/>
          </a:prstGeom>
        </p:spPr>
      </p:pic>
      <p:pic>
        <p:nvPicPr>
          <p:cNvPr id="13" name="Picture 12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AF061979-7FE5-2D0D-0A95-C564FE32A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19" y="2932677"/>
            <a:ext cx="2606045" cy="36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13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16C5-6239-DB3A-6DF6-DE6AC0F7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Questions? Feedback? Ideas?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30263-117E-8187-97F5-E0C798798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760" y="2357120"/>
            <a:ext cx="8422640" cy="4500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Whenever </a:t>
            </a:r>
            <a:r>
              <a:rPr lang="en-US" dirty="0" err="1"/>
              <a:t>DEGTrend</a:t>
            </a:r>
            <a:r>
              <a:rPr lang="en-US" dirty="0"/>
              <a:t> is updated, please download the latest version from GitHub and replace your local copy to ensure you are using the most up-to-date and stable release.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https://github.com/MichelleKoj/DEGTrend-public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you encounter:</a:t>
            </a:r>
          </a:p>
          <a:p>
            <a:r>
              <a:rPr lang="en-US" dirty="0"/>
              <a:t>Errors or unexpected behavior</a:t>
            </a:r>
          </a:p>
          <a:p>
            <a:r>
              <a:rPr lang="en-US" dirty="0"/>
              <a:t>Missing features</a:t>
            </a:r>
          </a:p>
          <a:p>
            <a:r>
              <a:rPr lang="en-US" dirty="0"/>
              <a:t>Suggestions for improvement</a:t>
            </a:r>
          </a:p>
          <a:p>
            <a:r>
              <a:rPr lang="en-US" dirty="0"/>
              <a:t>Ideas for new functionalities</a:t>
            </a:r>
          </a:p>
          <a:p>
            <a:r>
              <a:rPr lang="en-US" dirty="0"/>
              <a:t>Or anything that can make </a:t>
            </a:r>
            <a:r>
              <a:rPr lang="en-US" dirty="0" err="1"/>
              <a:t>DEGTrend</a:t>
            </a:r>
            <a:r>
              <a:rPr lang="en-US" dirty="0"/>
              <a:t> better</a:t>
            </a:r>
          </a:p>
          <a:p>
            <a:pPr marL="0" indent="0">
              <a:buNone/>
            </a:pPr>
            <a:r>
              <a:rPr lang="en-US" dirty="0"/>
              <a:t>Please feel free to contact me.</a:t>
            </a:r>
          </a:p>
          <a:p>
            <a:pPr marL="0" indent="0">
              <a:buNone/>
            </a:pPr>
            <a:r>
              <a:rPr lang="en-US" b="1" dirty="0"/>
              <a:t>Email:</a:t>
            </a:r>
            <a:r>
              <a:rPr lang="he-IL" b="1" dirty="0"/>
              <a:t> </a:t>
            </a:r>
            <a:r>
              <a:rPr lang="en-US" u="sng" dirty="0">
                <a:hlinkClick r:id="rId3"/>
              </a:rPr>
              <a:t>michelle.kojekine@mail.huji.ac.il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1700" dirty="0"/>
              <a:t>I welcome feedback</a:t>
            </a:r>
            <a:r>
              <a:rPr lang="he-IL" sz="1700" dirty="0"/>
              <a:t>-</a:t>
            </a:r>
            <a:r>
              <a:rPr lang="en-US" sz="1700" dirty="0"/>
              <a:t> it helps improve the tool and make it more useful for the community.</a:t>
            </a:r>
            <a:endParaRPr lang="he-IL" sz="1700" dirty="0"/>
          </a:p>
        </p:txBody>
      </p:sp>
    </p:spTree>
    <p:extLst>
      <p:ext uri="{BB962C8B-B14F-4D97-AF65-F5344CB8AC3E}">
        <p14:creationId xmlns:p14="http://schemas.microsoft.com/office/powerpoint/2010/main" val="1790788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D048-3E16-3ED6-8393-4F919211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R Version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F9D8-9B11-D4FE-B6EF-8C713F31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806944" cy="30515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Check version:</a:t>
            </a:r>
          </a:p>
          <a:p>
            <a:pPr marL="457200" lvl="1" indent="0">
              <a:buNone/>
            </a:pPr>
            <a:r>
              <a:rPr lang="en-US" sz="2800" dirty="0" err="1"/>
              <a:t>R.version.string</a:t>
            </a:r>
            <a:endParaRPr lang="en-US" sz="2800" dirty="0"/>
          </a:p>
          <a:p>
            <a:pPr marL="0" indent="0">
              <a:buNone/>
            </a:pPr>
            <a:r>
              <a:rPr lang="en-US" sz="3200" dirty="0"/>
              <a:t>Or:</a:t>
            </a:r>
          </a:p>
          <a:p>
            <a:pPr marL="457200" lvl="1" indent="0">
              <a:buNone/>
            </a:pPr>
            <a:r>
              <a:rPr lang="en-US" sz="2800" dirty="0" err="1"/>
              <a:t>sessionInfo</a:t>
            </a:r>
            <a:r>
              <a:rPr lang="en-US" sz="2800" dirty="0"/>
              <a:t>()</a:t>
            </a:r>
          </a:p>
          <a:p>
            <a:pPr marL="0" indent="0">
              <a:buNone/>
            </a:pPr>
            <a:r>
              <a:rPr lang="en-US" sz="3200" b="1" dirty="0"/>
              <a:t>Old R versions may cause package failures.</a:t>
            </a:r>
          </a:p>
          <a:p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1933321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D7FF-F673-823E-8902-89DE09EC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A2D5-FD2A-7819-AB31-9F362B9D3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609584" cy="4077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 does NOT update automatically.</a:t>
            </a:r>
          </a:p>
          <a:p>
            <a:pPr marL="0" indent="0">
              <a:buNone/>
            </a:pPr>
            <a:r>
              <a:rPr lang="en-US" sz="2000" b="1" dirty="0"/>
              <a:t>Windows:</a:t>
            </a:r>
          </a:p>
          <a:p>
            <a:r>
              <a:rPr lang="en-US" sz="2000" dirty="0"/>
              <a:t>Download from cran.r-project.org</a:t>
            </a:r>
          </a:p>
          <a:p>
            <a:r>
              <a:rPr lang="en-US" sz="2000" dirty="0"/>
              <a:t>Install latest version</a:t>
            </a:r>
          </a:p>
          <a:p>
            <a:pPr marL="0" indent="0">
              <a:buNone/>
            </a:pPr>
            <a:r>
              <a:rPr lang="en-US" sz="2000" b="1" dirty="0"/>
              <a:t>Mac:</a:t>
            </a:r>
          </a:p>
          <a:p>
            <a:r>
              <a:rPr lang="en-US" sz="2000" dirty="0"/>
              <a:t>Download R for macOS</a:t>
            </a:r>
          </a:p>
          <a:p>
            <a:r>
              <a:rPr lang="en-US" sz="2000" dirty="0"/>
              <a:t>Install normally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Restart computer after installation.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051918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F7BF-E522-FD26-6768-8F7F9F7E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Packages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D386F-F308-F930-5520-EDC4A9FE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94624" cy="4006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Check outdated packages:</a:t>
            </a:r>
          </a:p>
          <a:p>
            <a:pPr marL="457200" lvl="1" indent="0">
              <a:buNone/>
            </a:pPr>
            <a:r>
              <a:rPr lang="en-US" sz="2400" dirty="0" err="1"/>
              <a:t>old.packages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800" dirty="0"/>
              <a:t>Update all:</a:t>
            </a:r>
          </a:p>
          <a:p>
            <a:pPr marL="457200" lvl="1" indent="0">
              <a:buNone/>
            </a:pPr>
            <a:r>
              <a:rPr lang="en-US" sz="2400" dirty="0" err="1"/>
              <a:t>update.packages</a:t>
            </a:r>
            <a:r>
              <a:rPr lang="en-US" sz="2400" dirty="0"/>
              <a:t>(ask = FALSE)</a:t>
            </a:r>
          </a:p>
          <a:p>
            <a:pPr marL="0" indent="0">
              <a:buNone/>
            </a:pPr>
            <a:r>
              <a:rPr lang="en-US" sz="2800" dirty="0"/>
              <a:t>Update Bioconductor:</a:t>
            </a:r>
          </a:p>
          <a:p>
            <a:pPr marL="457200" lvl="1" indent="0">
              <a:buNone/>
            </a:pPr>
            <a:r>
              <a:rPr lang="en-US" sz="2400" dirty="0" err="1"/>
              <a:t>BiocManager</a:t>
            </a:r>
            <a:r>
              <a:rPr lang="en-US" sz="2400" dirty="0"/>
              <a:t>::install(update = TRUE, ask = FALSE)</a:t>
            </a:r>
          </a:p>
          <a:p>
            <a:pPr marL="0" indent="0">
              <a:buNone/>
            </a:pPr>
            <a:r>
              <a:rPr lang="en-US" sz="2800" b="1" dirty="0"/>
              <a:t>Restart R after updating.</a:t>
            </a:r>
          </a:p>
          <a:p>
            <a:pPr marL="0" indent="0">
              <a:buNone/>
            </a:pP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920292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99EC-7FCE-E356-2010-E691CC41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Mac-Specific Note (Important)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0FB2-D6F1-FBB4-AAA3-7B4C89D96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60944" cy="3854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If Bioconductor package installation fails with: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/>
              <a:t>clang error</a:t>
            </a:r>
          </a:p>
          <a:p>
            <a:pPr marL="0" indent="0">
              <a:buNone/>
            </a:pPr>
            <a:r>
              <a:rPr lang="en-US" sz="2800" dirty="0"/>
              <a:t>Open Terminal and run:</a:t>
            </a:r>
          </a:p>
          <a:p>
            <a:pPr marL="0" indent="0">
              <a:buNone/>
            </a:pPr>
            <a:r>
              <a:rPr lang="he-IL" sz="2800" dirty="0"/>
              <a:t>	</a:t>
            </a:r>
            <a:r>
              <a:rPr lang="en-US" sz="2800" dirty="0" err="1"/>
              <a:t>xcode</a:t>
            </a:r>
            <a:r>
              <a:rPr lang="en-US" sz="2800" dirty="0"/>
              <a:t>-select --install</a:t>
            </a:r>
          </a:p>
          <a:p>
            <a:pPr marL="0" indent="0">
              <a:buNone/>
            </a:pPr>
            <a:r>
              <a:rPr lang="en-US" sz="2800" dirty="0"/>
              <a:t>This installs required developer tools.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Most Macs already have it.</a:t>
            </a:r>
          </a:p>
          <a:p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791524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6FC1-747D-A120-1A99-D9A8DDB1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Errors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FBE7-0A7D-BB41-D7D7-A3E34303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142224" cy="41081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Typical issues:</a:t>
            </a:r>
          </a:p>
          <a:p>
            <a:r>
              <a:rPr lang="en-US" sz="3200" dirty="0"/>
              <a:t>Wrong working directory</a:t>
            </a:r>
          </a:p>
          <a:p>
            <a:r>
              <a:rPr lang="en-US" sz="3200" dirty="0"/>
              <a:t>Wrong file path</a:t>
            </a:r>
          </a:p>
          <a:p>
            <a:r>
              <a:rPr lang="en-US" sz="3200" dirty="0"/>
              <a:t>Package not installed</a:t>
            </a:r>
          </a:p>
          <a:p>
            <a:r>
              <a:rPr lang="en-US" sz="3200" dirty="0"/>
              <a:t>Case sensitivity (Mac)</a:t>
            </a:r>
          </a:p>
          <a:p>
            <a:pPr marL="0" indent="0">
              <a:buNone/>
            </a:pPr>
            <a:r>
              <a:rPr lang="en-US" sz="3200" dirty="0"/>
              <a:t>Most problems are environment-related.</a:t>
            </a:r>
          </a:p>
          <a:p>
            <a:pPr marL="0" indent="0">
              <a:buNone/>
            </a:pPr>
            <a:r>
              <a:rPr lang="en-US" sz="3200" dirty="0"/>
              <a:t>Not programming-related.</a:t>
            </a:r>
          </a:p>
          <a:p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71487387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419</TotalTime>
  <Words>1829</Words>
  <Application>Microsoft Office PowerPoint</Application>
  <PresentationFormat>Widescreen</PresentationFormat>
  <Paragraphs>236</Paragraphs>
  <Slides>31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Gill Sans MT</vt:lpstr>
      <vt:lpstr>Wingdings</vt:lpstr>
      <vt:lpstr>Parcel</vt:lpstr>
      <vt:lpstr>DEGTrend: End-to-End Multi-Condition RNA-seq Analysis</vt:lpstr>
      <vt:lpstr>Workshop Goal</vt:lpstr>
      <vt:lpstr>What DEGTrend Does?</vt:lpstr>
      <vt:lpstr>What You Need Before Starting</vt:lpstr>
      <vt:lpstr>Required R Packages</vt:lpstr>
      <vt:lpstr>Downloading DEGTrend.R from GitHub</vt:lpstr>
      <vt:lpstr>Save it inside your working folder  (for example):</vt:lpstr>
      <vt:lpstr>Run DEGTrend.R (for example):</vt:lpstr>
      <vt:lpstr>Step 1: Output Directory</vt:lpstr>
      <vt:lpstr>Main Menu Overview</vt:lpstr>
      <vt:lpstr>Choosing the Correct Option</vt:lpstr>
      <vt:lpstr>Start from Option 2</vt:lpstr>
      <vt:lpstr>Process data and perform differential expression analysis</vt:lpstr>
      <vt:lpstr>Option 2: Input Requirements</vt:lpstr>
      <vt:lpstr>Independent Work – Option 2</vt:lpstr>
      <vt:lpstr>Outputs from Option 2</vt:lpstr>
      <vt:lpstr>From Comparisons to Trends</vt:lpstr>
      <vt:lpstr>Option 1: Load DEGs tables and analyze </vt:lpstr>
      <vt:lpstr>Load DEGs tables and analyze </vt:lpstr>
      <vt:lpstr>AUTOMATIC ANALYSIS MODE</vt:lpstr>
      <vt:lpstr>MANUAL ANALYSIS MODE</vt:lpstr>
      <vt:lpstr>Independent Work – Option 1</vt:lpstr>
      <vt:lpstr>QUICK REVIEW: OPTION 3 (Genomic differential data)</vt:lpstr>
      <vt:lpstr>Option 3- example running</vt:lpstr>
      <vt:lpstr>Option 3- example running</vt:lpstr>
      <vt:lpstr>Questions? Feedback? Ideas?</vt:lpstr>
      <vt:lpstr>Checking R Version</vt:lpstr>
      <vt:lpstr>Updating R</vt:lpstr>
      <vt:lpstr>Updating Packages</vt:lpstr>
      <vt:lpstr>Mac-Specific Note (Important)</vt:lpstr>
      <vt:lpstr>Common Errors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Kojekine</dc:creator>
  <cp:lastModifiedBy>Michelle Kojekine</cp:lastModifiedBy>
  <cp:revision>12</cp:revision>
  <dcterms:created xsi:type="dcterms:W3CDTF">2026-02-15T10:19:02Z</dcterms:created>
  <dcterms:modified xsi:type="dcterms:W3CDTF">2026-02-17T09:01:15Z</dcterms:modified>
</cp:coreProperties>
</file>